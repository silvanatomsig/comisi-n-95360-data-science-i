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a60d03fb-97f6-13c6-6758-ce537e9ef6f8}">
          <p14:sldIdLst>
            <p14:sldId id="256"/>
            <p14:sldId id="257"/>
          </p14:sldIdLst>
        </p14:section>
        <p14:section name="Conceptos" id="{24b27284-bbb1-8e8b-6434-8e0baa08a3e1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Ejemplo en clase" id="{ece0a831-953d-b3e6-b46f-88aee31a40f4}">
          <p14:sldIdLst>
            <p14:sldId id="264"/>
            <p14:sldId id="265"/>
            <p14:sldId id="266"/>
          </p14:sldIdLst>
        </p14:section>
        <p14:section name="Ejercicio" id="{9cf1e5e3-b6c5-7a89-fb1a-5e7d369fba80}">
          <p14:sldIdLst>
            <p14:sldId id="267"/>
            <p14:sldId id="268"/>
          </p14:sldIdLst>
        </p14:section>
        <p14:section name="Cierre" id="{4d69278d-22b2-b887-8c84-e36f5afc4e9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(1 min). Objetivo: al final de la clase pueden diagnosticar un dataset y justificar qué limpiar y qué conservar.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agenda (1 min). Marcar que el 60% de la clase es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(3 min). Preguntar al grupo: ¿qué harían en cada caso? Anotar respuestas; se retoman al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Remarcar: '' y ' ' NO son nulos. Mostrar np.nan == np.nan -&gt;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La respuesta cambia la estrategia. Ejemplo: un LEFT JOIN genera nulos que SON información (clientes inactivos).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Siempre porcentajes: 50 nulos en 60 filas es un desastre. Las reglas son empíricas, no universales.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Clave de negocio (ID, timestamp). Antes de borrar: ¿hay un ID único?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Es el mapa mental que usarán en ambos ejemplos y en la pre-entrega.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Pasar a Colab/Jupyter (10 min). Abrir 01_ejemplo_clase_cafeteria.ipynb. Pedir propuestas antes de ejecutar cada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diagnóstico y preguntar: ¿qué significa cada uno?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el ejemplo (2 min). Resultado: 200 → 190 filas, 0 nulos. Remarcar que el 'Por qué' es lo que se evalúa.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Alumnos en notebook 02_ejercicio_alumnos.ipynb. Circular, no dar la respuesta. Pedir decisiones justificadas, no solo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Resolución (3 min). Pedir que cada grupo defienda UNA decisión. Los id_cliente repetidos NO son errores. Hay desafío extra: media vs mediana de monto.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(2-3 min). Retomar las respuestas del gancho. Adelantar: próxima unidad map y apply. Recordar la pre-entrega.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Valores faltantes y duplicados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Decidir qué limpiar y qué conservar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Manipulación de datos con Pandas  ·  Clase de 35 minutos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3291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</a:t>
            </a:r>
            <a:endParaRPr lang="en-US" sz="9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Plan de la clase: 35 minutos</a:t>
            </a:r>
            <a:endParaRPr lang="en-US" sz="3200" dirty="0"/>
          </a:p>
        </p:txBody>
      </p:sp>
      <p:sp>
        <p:nvSpPr>
          <p:cNvPr id="4" name="Bloque 1"/>
          <p:cNvSpPr txBox="1"/>
          <p:nvPr/>
        </p:nvSpPr>
        <p:spPr>
          <a:xfrm>
            <a:off x="457200" y="1371600"/>
            <a:ext cx="1554480" cy="26517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3'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Gancho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 caso real</a:t>
            </a:r>
            <a:endParaRPr lang="en-US" sz="1400" dirty="0"/>
          </a:p>
        </p:txBody>
      </p:sp>
      <p:sp>
        <p:nvSpPr>
          <p:cNvPr id="5" name="Bloque 2"/>
          <p:cNvSpPr txBox="1"/>
          <p:nvPr/>
        </p:nvSpPr>
        <p:spPr>
          <a:xfrm>
            <a:off x="2125980" y="1371600"/>
            <a:ext cx="1554480" cy="26517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9'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Conceptos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Faltantes, duplicados, criterios</a:t>
            </a:r>
            <a:endParaRPr lang="en-US" sz="1400" dirty="0"/>
          </a:p>
        </p:txBody>
      </p:sp>
      <p:sp>
        <p:nvSpPr>
          <p:cNvPr id="6" name="Bloque 3"/>
          <p:cNvSpPr txBox="1"/>
          <p:nvPr/>
        </p:nvSpPr>
        <p:spPr>
          <a:xfrm>
            <a:off x="3794760" y="1371600"/>
            <a:ext cx="1554480" cy="265176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10'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Ejemplo en clase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Cafeterías (guiado)</a:t>
            </a:r>
            <a:endParaRPr lang="en-US" sz="1400" dirty="0"/>
          </a:p>
        </p:txBody>
      </p:sp>
      <p:sp>
        <p:nvSpPr>
          <p:cNvPr id="7" name="Bloque 4"/>
          <p:cNvSpPr txBox="1"/>
          <p:nvPr/>
        </p:nvSpPr>
        <p:spPr>
          <a:xfrm>
            <a:off x="5463540" y="1371600"/>
            <a:ext cx="1554480" cy="265176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10'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Ejercicio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Tienda online (alumnos)</a:t>
            </a:r>
            <a:endParaRPr lang="en-US" sz="1400" dirty="0"/>
          </a:p>
        </p:txBody>
      </p:sp>
      <p:sp>
        <p:nvSpPr>
          <p:cNvPr id="8" name="Bloque 5"/>
          <p:cNvSpPr txBox="1"/>
          <p:nvPr/>
        </p:nvSpPr>
        <p:spPr>
          <a:xfrm>
            <a:off x="7132320" y="1371600"/>
            <a:ext cx="1554480" cy="26517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3'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Cierre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Resolución y síntesis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Las partes en color son práctica en notebook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Recibís un listado de ventas y…</a:t>
            </a:r>
            <a:endParaRPr lang="en-US" sz="3200" dirty="0"/>
          </a:p>
        </p:txBody>
      </p:sp>
      <p:sp>
        <p:nvSpPr>
          <p:cNvPr id="4" name="Caso 1"/>
          <p:cNvSpPr txBox="1"/>
          <p:nvPr/>
        </p:nvSpPr>
        <p:spPr>
          <a:xfrm>
            <a:off x="457200" y="128016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  <p:txBody>
          <a:bodyPr wrap="square" lIns="2540" tIns="2540" rIns="2540" bIns="254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👤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Clientes sin edad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¿Borro la fila o invento un valor?</a:t>
            </a:r>
            <a:endParaRPr lang="en-US" sz="1400" dirty="0"/>
          </a:p>
        </p:txBody>
      </p:sp>
      <p:sp>
        <p:nvSpPr>
          <p:cNvPr id="5" name="Caso 2"/>
          <p:cNvSpPr txBox="1"/>
          <p:nvPr/>
        </p:nvSpPr>
        <p:spPr>
          <a:xfrm>
            <a:off x="3291840" y="128016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  <p:txBody>
          <a:bodyPr wrap="square" lIns="2540" tIns="2540" rIns="2540" bIns="254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📋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La misma compra ×3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¿Error del sistema o tres compras reales?</a:t>
            </a:r>
            <a:endParaRPr lang="en-US" sz="1400" dirty="0"/>
          </a:p>
        </p:txBody>
      </p:sp>
      <p:sp>
        <p:nvSpPr>
          <p:cNvPr id="6" name="Caso 3"/>
          <p:cNvSpPr txBox="1"/>
          <p:nvPr/>
        </p:nvSpPr>
        <p:spPr>
          <a:xfrm>
            <a:off x="6126480" y="128016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  <p:txBody>
          <a:bodyPr wrap="square" lIns="2540" tIns="2540" rIns="2540" bIns="254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🕳️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Filas casi vacías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¿Falta información o no aplica?</a:t>
            </a:r>
            <a:endParaRPr lang="en-US" sz="1400" dirty="0"/>
          </a:p>
        </p:txBody>
      </p:sp>
      <p:sp>
        <p:nvSpPr>
          <p:cNvPr id="7" name="Mensaje"/>
          <p:cNvSpPr txBox="1"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Limpiar mal es construir un edificio sobre cimientos de arena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lenguaje de la ausencia</a:t>
            </a:r>
            <a:endParaRPr lang="en-US" sz="3200" dirty="0"/>
          </a:p>
        </p:txBody>
      </p:sp>
      <p:sp>
        <p:nvSpPr>
          <p:cNvPr id="4" name="Concepto NaN"/>
          <p:cNvSpPr txBox="1"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Estándar de Pandas/NumPy. Es un float.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np.nan == np.nan → False</a:t>
            </a:r>
            <a:endParaRPr lang="en-US" sz="1400" dirty="0"/>
          </a:p>
        </p:txBody>
      </p:sp>
      <p:sp>
        <p:nvSpPr>
          <p:cNvPr id="5" name="Concepto None"/>
          <p:cNvSpPr txBox="1"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Vacío nativo de Python.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Pandas lo convierte a NaN al cargar.</a:t>
            </a:r>
            <a:endParaRPr lang="en-US" sz="1400" dirty="0"/>
          </a:p>
        </p:txBody>
      </p:sp>
      <p:sp>
        <p:nvSpPr>
          <p:cNvPr id="6" name="Concepto Null / NA"/>
          <p:cNvSpPr txBox="1"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/ NA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Término de bases de datos (SQL).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En Pandas: sinónimo de faltante.</a:t>
            </a:r>
            <a:endParaRPr lang="en-US" sz="1400" dirty="0"/>
          </a:p>
        </p:txBody>
      </p:sp>
      <p:sp>
        <p:nvSpPr>
          <p:cNvPr id="7" name="Concepto &quot;&quot;  o  &quot; &quot;"/>
          <p:cNvSpPr txBox="1"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""  o  " 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Texto válido sin letras.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NO es nulo: hay que convertirlo.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¿Por qué falta el dato?</a:t>
            </a:r>
            <a:endParaRPr lang="en-US" sz="3200" dirty="0"/>
          </a:p>
        </p:txBody>
      </p:sp>
      <p:sp>
        <p:nvSpPr>
          <p:cNvPr id="4" name="Número 1"/>
          <p:cNvSpPr txBox="1"/>
          <p:nvPr/>
        </p:nvSpPr>
        <p:spPr>
          <a:xfrm>
            <a:off x="457200" y="13258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1280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Captura incompleta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Falló el sensor; no quiso decir su salario</a:t>
            </a:r>
            <a:endParaRPr lang="en-US" sz="1400" dirty="0"/>
          </a:p>
        </p:txBody>
      </p:sp>
      <p:sp>
        <p:nvSpPr>
          <p:cNvPr id="6" name="Número 2"/>
          <p:cNvSpPr txBox="1"/>
          <p:nvPr/>
        </p:nvSpPr>
        <p:spPr>
          <a:xfrm>
            <a:off x="457200" y="2194560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148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Errores de integración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 unir tablas, quien nunca compró queda vacío</a:t>
            </a:r>
            <a:endParaRPr lang="en-US" sz="1400" dirty="0"/>
          </a:p>
        </p:txBody>
      </p:sp>
      <p:sp>
        <p:nvSpPr>
          <p:cNvPr id="8" name="Número 3"/>
          <p:cNvSpPr txBox="1"/>
          <p:nvPr/>
        </p:nvSpPr>
        <p:spPr>
          <a:xfrm>
            <a:off x="457200" y="30632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0175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Datos no aplicables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 mascota → 'nombre de mascota' vacío</a:t>
            </a:r>
            <a:endParaRPr lang="en-US" sz="1400" dirty="0"/>
          </a:p>
        </p:txBody>
      </p:sp>
      <p:sp>
        <p:nvSpPr>
          <p:cNvPr id="10" name="Número 4"/>
          <p:cNvSpPr txBox="1"/>
          <p:nvPr/>
        </p:nvSpPr>
        <p:spPr>
          <a:xfrm>
            <a:off x="457200" y="3931920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886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Diseño del proceso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Antes no se pedía ese dato</a:t>
            </a:r>
            <a:endParaRPr lang="en-US" sz="1400" dirty="0"/>
          </a:p>
        </p:txBody>
      </p:sp>
      <p:sp>
        <p:nvSpPr>
          <p:cNvPr id="12" name="Principio de oro"/>
          <p:cNvSpPr txBox="1"/>
          <p:nvPr/>
        </p:nvSpPr>
        <p:spPr>
          <a:xfrm>
            <a:off x="5303520" y="1280160"/>
            <a:ext cx="338328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/>
        </p:spPr>
        <p:txBody>
          <a:bodyPr wrap="square" lIns="3175" tIns="3175" rIns="3175" bIns="317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 de oro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Nunca limpies sin entender el contexto.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Si borrás los nulos de “descuento aplicado”, borrás a todos los que pagaron precio completo.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Detectar y medir</a:t>
            </a:r>
            <a:endParaRPr lang="en-US" sz="3200" dirty="0"/>
          </a:p>
        </p:txBody>
      </p:sp>
      <p:sp>
        <p:nvSpPr>
          <p:cNvPr id="4" name="Código"/>
          <p:cNvSpPr txBox="1"/>
          <p:nvPr/>
        </p:nvSpPr>
        <p:spPr>
          <a:xfrm>
            <a:off x="457200" y="1280160"/>
            <a:ext cx="466344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/>
        </p:spPr>
        <p:txBody>
          <a:bodyPr wrap="square" lIns="3175" tIns="3175" rIns="3175" bIns="3175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df.info()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df.isna()              # máscara True/False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df.isna().sum()        # nulos por columna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(df.isna().sum() / len(df)) * 100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# % sobre el total de FILAS</a:t>
            </a:r>
            <a:endParaRPr lang="en-US" sz="1300" dirty="0"/>
          </a:p>
        </p:txBody>
      </p:sp>
      <p:sp>
        <p:nvSpPr>
          <p:cNvPr id="5" name="Umbral &lt; 5 %"/>
          <p:cNvSpPr txBox="1"/>
          <p:nvPr/>
        </p:nvSpPr>
        <p:spPr>
          <a:xfrm>
            <a:off x="5394960" y="1280160"/>
            <a:ext cx="3291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Eliminar filas o imputar simple</a:t>
            </a:r>
            <a:endParaRPr lang="en-US" sz="1400" dirty="0"/>
          </a:p>
        </p:txBody>
      </p:sp>
      <p:sp>
        <p:nvSpPr>
          <p:cNvPr id="6" name="Umbral 5 – 30 %"/>
          <p:cNvSpPr txBox="1"/>
          <p:nvPr/>
        </p:nvSpPr>
        <p:spPr>
          <a:xfrm>
            <a:off x="5394960" y="2377440"/>
            <a:ext cx="3291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– 30 %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Pensar una imputación mejor</a:t>
            </a:r>
            <a:endParaRPr lang="en-US" sz="1400" dirty="0"/>
          </a:p>
        </p:txBody>
      </p:sp>
      <p:sp>
        <p:nvSpPr>
          <p:cNvPr id="7" name="Umbral &gt; 50 %"/>
          <p:cNvSpPr txBox="1"/>
          <p:nvPr/>
        </p:nvSpPr>
        <p:spPr>
          <a:xfrm>
            <a:off x="5394960" y="3474720"/>
            <a:ext cx="3291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50 %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Evaluar eliminar la columna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Duplicados: ¿error o evento real?</a:t>
            </a:r>
            <a:endParaRPr lang="en-US" sz="3200" dirty="0"/>
          </a:p>
        </p:txBody>
      </p:sp>
      <p:sp>
        <p:nvSpPr>
          <p:cNvPr id="4" name="Borrar"/>
          <p:cNvSpPr txBox="1"/>
          <p:nvPr/>
        </p:nvSpPr>
        <p:spPr>
          <a:xfrm>
            <a:off x="457200" y="1280160"/>
            <a:ext cx="40233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BORRAR · identidad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Misma persona, mismo producto, mismo segundo.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Mismo ID de transacción.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→ error del sistema</a:t>
            </a:r>
            <a:endParaRPr lang="en-US" sz="1400" dirty="0"/>
          </a:p>
        </p:txBody>
      </p:sp>
      <p:sp>
        <p:nvSpPr>
          <p:cNvPr id="5" name="Conservar"/>
          <p:cNvSpPr txBox="1"/>
          <p:nvPr/>
        </p:nvSpPr>
        <p:spPr>
          <a:xfrm>
            <a:off x="4663440" y="1280160"/>
            <a:ext cx="40233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CONSERVAR · eventos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Mismo cliente y artículo, dos días seguidos.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IDs y fechas distintos.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→ dos compras reales</a:t>
            </a:r>
            <a:endParaRPr lang="en-US" sz="1400" dirty="0"/>
          </a:p>
        </p:txBody>
      </p:sp>
      <p:sp>
        <p:nvSpPr>
          <p:cNvPr id="6" name="Código duplicados"/>
          <p:cNvSpPr txBox="1"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df.duplicated(subset='id_transaccion')      df.drop_duplicates(subset='id_transaccion', keep='first')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Tu flujo de trabajo de limpieza</a:t>
            </a:r>
            <a:endParaRPr lang="en-US" sz="3200" dirty="0"/>
          </a:p>
        </p:txBody>
      </p:sp>
      <p:sp>
        <p:nvSpPr>
          <p:cNvPr id="4" name="Número 1"/>
          <p:cNvSpPr txBox="1"/>
          <p:nvPr/>
        </p:nvSpPr>
        <p:spPr>
          <a:xfrm>
            <a:off x="1024128" y="128016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Paso 1"/>
          <p:cNvSpPr txBox="1"/>
          <p:nvPr/>
        </p:nvSpPr>
        <p:spPr>
          <a:xfrm>
            <a:off x="457200" y="1828800"/>
            <a:ext cx="1554480" cy="20116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" tIns="1270" rIns="1270" bIns="127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Explora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info()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isna().sum()</a:t>
            </a:r>
            <a:endParaRPr lang="en-US" sz="1400" dirty="0"/>
          </a:p>
        </p:txBody>
      </p:sp>
      <p:sp>
        <p:nvSpPr>
          <p:cNvPr id="6" name="Número 2"/>
          <p:cNvSpPr txBox="1"/>
          <p:nvPr/>
        </p:nvSpPr>
        <p:spPr>
          <a:xfrm>
            <a:off x="2692908" y="128016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Paso 2"/>
          <p:cNvSpPr txBox="1"/>
          <p:nvPr/>
        </p:nvSpPr>
        <p:spPr>
          <a:xfrm>
            <a:off x="2125980" y="1828800"/>
            <a:ext cx="1554480" cy="20116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" tIns="1270" rIns="1270" bIns="127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Contextualiza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¿Error o realidad del negocio?</a:t>
            </a:r>
            <a:endParaRPr lang="en-US" sz="1400" dirty="0"/>
          </a:p>
        </p:txBody>
      </p:sp>
      <p:sp>
        <p:nvSpPr>
          <p:cNvPr id="8" name="Número 3"/>
          <p:cNvSpPr txBox="1"/>
          <p:nvPr/>
        </p:nvSpPr>
        <p:spPr>
          <a:xfrm>
            <a:off x="4361688" y="128016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Paso 3"/>
          <p:cNvSpPr txBox="1"/>
          <p:nvPr/>
        </p:nvSpPr>
        <p:spPr>
          <a:xfrm>
            <a:off x="3794760" y="1828800"/>
            <a:ext cx="1554480" cy="20116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" tIns="1270" rIns="1270" bIns="127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Mide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Porcentajes, no números absolutos</a:t>
            </a:r>
            <a:endParaRPr lang="en-US" sz="1400" dirty="0"/>
          </a:p>
        </p:txBody>
      </p:sp>
      <p:sp>
        <p:nvSpPr>
          <p:cNvPr id="10" name="Número 4"/>
          <p:cNvSpPr txBox="1"/>
          <p:nvPr/>
        </p:nvSpPr>
        <p:spPr>
          <a:xfrm>
            <a:off x="6030468" y="1280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Paso 4"/>
          <p:cNvSpPr txBox="1"/>
          <p:nvPr/>
        </p:nvSpPr>
        <p:spPr>
          <a:xfrm>
            <a:off x="5463540" y="1828800"/>
            <a:ext cx="1554480" cy="20116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" tIns="1270" rIns="1270" bIns="127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Decide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dropna · imputar · borrar columna</a:t>
            </a:r>
            <a:endParaRPr lang="en-US" sz="1400" dirty="0"/>
          </a:p>
        </p:txBody>
      </p:sp>
      <p:sp>
        <p:nvSpPr>
          <p:cNvPr id="12" name="Número 5"/>
          <p:cNvSpPr txBox="1"/>
          <p:nvPr/>
        </p:nvSpPr>
        <p:spPr>
          <a:xfrm>
            <a:off x="7699248" y="128016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Paso 5"/>
          <p:cNvSpPr txBox="1"/>
          <p:nvPr/>
        </p:nvSpPr>
        <p:spPr>
          <a:xfrm>
            <a:off x="7132320" y="1828800"/>
            <a:ext cx="1554480" cy="20116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" tIns="1270" rIns="1270" bIns="127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Deduplica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Claves de negocio (IDs)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¿Puedo vivir sin la fila? → dropna   ·   ¿Importante y falta poco? → imputá   ·   ¿Falta demasiado? → evaluá borrar la columna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Ejemplo 1 · En clase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Ventas de cafeterías: septiembre 2026</a:t>
            </a:r>
            <a:endParaRPr lang="en-US" sz="2200" dirty="0"/>
          </a:p>
        </p:txBody>
      </p:sp>
      <p:sp>
        <p:nvSpPr>
          <p:cNvPr id="5" name="Dataset 1"/>
          <p:cNvSpPr txBox="1"/>
          <p:nvPr/>
        </p:nvSpPr>
        <p:spPr>
          <a:xfrm>
            <a:off x="5120640" y="219456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  <p:txBody>
          <a:bodyPr wrap="square" lIns="3175" tIns="3175" rIns="3175" bIns="317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ventas_cafeteria.csv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200 filas · 9 columnas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id_transaccion · fecha_hora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sucursal · producto · cantidad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precio_unitario · medio_pago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edad_cliente · descuento_aplicado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01_ejemplo_clase_cafeteria.ipynb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 que vamos a encontrar</a:t>
            </a:r>
            <a:endParaRPr lang="en-US" sz="3200" dirty="0"/>
          </a:p>
        </p:txBody>
      </p:sp>
      <p:sp>
        <p:nvSpPr>
          <p:cNvPr id="4" name="Dato 1"/>
          <p:cNvSpPr txBox="1"/>
          <p:nvPr/>
        </p:nvSpPr>
        <p:spPr>
          <a:xfrm>
            <a:off x="457200" y="128016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descuento_aplicado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58,5 % nulos</a:t>
            </a:r>
            <a:endParaRPr lang="en-US" sz="1400" dirty="0"/>
          </a:p>
        </p:txBody>
      </p:sp>
      <p:sp>
        <p:nvSpPr>
          <p:cNvPr id="5" name="Dato 2"/>
          <p:cNvSpPr txBox="1"/>
          <p:nvPr/>
        </p:nvSpPr>
        <p:spPr>
          <a:xfrm>
            <a:off x="2560320" y="128016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5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edad_cliente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12,5 % nulos</a:t>
            </a:r>
            <a:endParaRPr lang="en-US" sz="1400" dirty="0"/>
          </a:p>
        </p:txBody>
      </p:sp>
      <p:sp>
        <p:nvSpPr>
          <p:cNvPr id="6" name="Dato 3"/>
          <p:cNvSpPr txBox="1"/>
          <p:nvPr/>
        </p:nvSpPr>
        <p:spPr>
          <a:xfrm>
            <a:off x="4663440" y="128016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duplicados exactos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(mismo ID y segundo)</a:t>
            </a:r>
            <a:endParaRPr lang="en-US" sz="1400" dirty="0"/>
          </a:p>
        </p:txBody>
      </p:sp>
      <p:sp>
        <p:nvSpPr>
          <p:cNvPr id="7" name="Dato 4"/>
          <p:cNvSpPr txBox="1"/>
          <p:nvPr/>
        </p:nvSpPr>
        <p:spPr>
          <a:xfrm>
            <a:off x="6766560" y="128016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espacios " " en medio_pago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(no son NaN)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Pregunta para la clase: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¿“Sin descuento” es un error de carga… o es información?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Decisiones del ejemplo 1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1920240"/>
                <a:gridCol w="2834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Problema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Decisión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Por qué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Duplicados exactos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 filas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Eliminar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Mismo ID y segundo: error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precio_unitario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2 %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Eliminar filas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 clave, &lt; 5 %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descuento_aplicado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58,5 %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Rellenar con 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Nulo = sin descuento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medio_pago (+ espacios)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3,5 %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'Desconocido'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Categórica; conservo la fila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edad_cliente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12,5 %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Mediana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Importante; robusta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Repetidos con otro ID/fecha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CONSERVAR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Compras distintas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200 → 190 filas · 0 nulos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Ejercicio 2 · Ahora ustedes (10 min)</a:t>
            </a:r>
            <a:endParaRPr lang="en-US" sz="3200" dirty="0"/>
          </a:p>
        </p:txBody>
      </p:sp>
      <p:sp>
        <p:nvSpPr>
          <p:cNvPr id="4" name="Dataset 2"/>
          <p:cNvSpPr txBox="1"/>
          <p:nvPr/>
        </p:nvSpPr>
        <p:spPr>
          <a:xfrm>
            <a:off x="457200" y="1280160"/>
            <a:ext cx="329184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/>
        </p:spPr>
        <p:txBody>
          <a:bodyPr wrap="square" lIns="3175" tIns="3175" rIns="3175" bIns="317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pedidos_tienda_online.csv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300 filas · 10 columnas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id_pedido · id_cliente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fecha_pedido · categoria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 · edad · pais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calificacion · cupon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telefono_alternativo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02_ejercicio_alumnos.ipynb</a:t>
            </a:r>
            <a:endParaRPr lang="en-US" sz="1400" dirty="0"/>
          </a:p>
        </p:txBody>
      </p:sp>
      <p:sp>
        <p:nvSpPr>
          <p:cNvPr id="5" name="Número 1"/>
          <p:cNvSpPr txBox="1"/>
          <p:nvPr/>
        </p:nvSpPr>
        <p:spPr>
          <a:xfrm>
            <a:off x="4114800" y="1280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12801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Cargá y medí nulos (cantidad y %)</a:t>
            </a:r>
            <a:endParaRPr lang="en-US" sz="1500" dirty="0"/>
          </a:p>
        </p:txBody>
      </p:sp>
      <p:sp>
        <p:nvSpPr>
          <p:cNvPr id="7" name="Número 2"/>
          <p:cNvSpPr txBox="1"/>
          <p:nvPr/>
        </p:nvSpPr>
        <p:spPr>
          <a:xfrm>
            <a:off x="4114800" y="19385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9385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Buscá vacíos disfrazados (" ")</a:t>
            </a:r>
            <a:endParaRPr lang="en-US" sz="1500" dirty="0"/>
          </a:p>
        </p:txBody>
      </p:sp>
      <p:sp>
        <p:nvSpPr>
          <p:cNvPr id="9" name="Número 3"/>
          <p:cNvSpPr txBox="1"/>
          <p:nvPr/>
        </p:nvSpPr>
        <p:spPr>
          <a:xfrm>
            <a:off x="4114800" y="259689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25968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Detectá duplicados: exactos, por id_pedido y por id_cliente</a:t>
            </a:r>
            <a:endParaRPr lang="en-US" sz="1500" dirty="0"/>
          </a:p>
        </p:txBody>
      </p:sp>
      <p:sp>
        <p:nvSpPr>
          <p:cNvPr id="11" name="Número 4"/>
          <p:cNvSpPr txBox="1"/>
          <p:nvPr/>
        </p:nvSpPr>
        <p:spPr>
          <a:xfrm>
            <a:off x="4114800" y="325526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325526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Decidí por columna: qué significa y qué hacés</a:t>
            </a:r>
            <a:endParaRPr lang="en-US" sz="1500" dirty="0"/>
          </a:p>
        </p:txBody>
      </p:sp>
      <p:sp>
        <p:nvSpPr>
          <p:cNvPr id="13" name="Número 5"/>
          <p:cNvSpPr txBox="1"/>
          <p:nvPr/>
        </p:nvSpPr>
        <p:spPr>
          <a:xfrm>
            <a:off x="4114800" y="391363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39136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Aplicá la limpieza y escribí un reporte de 4 líneas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Resolución del ejercicio 2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2103120"/>
                <a:gridCol w="28346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Columna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Decisión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Por qué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Duplicados (id_pedido)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 filas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Eliminar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Doble envío del formulario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id_cliente repetido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CONSERVAR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 cliente, varios pedidos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telefono_alternativo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84,3 %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Eliminar columna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&gt; 50 %: más ruido que dato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cupon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58,7 %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'SIN_CUPON'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Nulo = no usó cupón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calificacion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34,7 %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Conservar NaN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todos califican; no inventar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edad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8,7 %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Mediana (36)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Variable útil, robusta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pais (+ espacios)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3,3 %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Moda (Argentina)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Categórica, 75 % del total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3,0 %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Eliminar filas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Variable principal, &lt; 5 %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Resultado: 300 → 283 filas  ·  Desafío: media de monto 129.546 vs mediana 65.700 (Electrónica)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Lo que te llevás</a:t>
            </a:r>
            <a:endParaRPr lang="en-US" sz="4000" dirty="0"/>
          </a:p>
        </p:txBody>
      </p:sp>
      <p:sp>
        <p:nvSpPr>
          <p:cNvPr id="4" name="Idea 1"/>
          <p:cNvSpPr txBox="1"/>
          <p:nvPr/>
        </p:nvSpPr>
        <p:spPr>
          <a:xfrm>
            <a:off x="548640" y="283464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  <p:txBody>
          <a:bodyPr wrap="square" lIns="2540" tIns="2540" rIns="2540" bIns="254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Medí en 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Nunca decidas con números absolutos</a:t>
            </a:r>
            <a:endParaRPr lang="en-US" sz="1400" dirty="0"/>
          </a:p>
        </p:txBody>
      </p:sp>
      <p:sp>
        <p:nvSpPr>
          <p:cNvPr id="5" name="Idea 2"/>
          <p:cNvSpPr txBox="1"/>
          <p:nvPr/>
        </p:nvSpPr>
        <p:spPr>
          <a:xfrm>
            <a:off x="3291840" y="283464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  <p:txBody>
          <a:bodyPr wrap="square" lIns="2540" tIns="2540" rIns="2540" bIns="254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Entendé el porqué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Un nulo puede ser información</a:t>
            </a:r>
            <a:endParaRPr lang="en-US" sz="1400" dirty="0"/>
          </a:p>
        </p:txBody>
      </p:sp>
      <p:sp>
        <p:nvSpPr>
          <p:cNvPr id="6" name="Idea 3"/>
          <p:cNvSpPr txBox="1"/>
          <p:nvPr/>
        </p:nvSpPr>
        <p:spPr>
          <a:xfrm>
            <a:off x="6035040" y="283464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  <p:txBody>
          <a:bodyPr wrap="square" lIns="2540" tIns="2540" rIns="2540" bIns="254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Documentá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Cada decisión, con su justificación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Próxima unidad: transformar con map y apply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mpieza de datos">
  <a:themeElements>
    <a:clrScheme name="Limpieza de datos">
      <a:dk1>
        <a:srgbClr val="2A1F1B"/>
      </a:dk1>
      <a:lt1>
        <a:srgbClr val="FFFFFF"/>
      </a:lt1>
      <a:dk2>
        <a:srgbClr val="5A3E36"/>
      </a:dk2>
      <a:lt2>
        <a:srgbClr val="F3F1EF"/>
      </a:lt2>
      <a:accent1>
        <a:srgbClr val="C8553D"/>
      </a:accent1>
      <a:accent2>
        <a:srgbClr val="4F7A5A"/>
      </a:accent2>
      <a:accent3>
        <a:srgbClr val="D9962B"/>
      </a:accent3>
      <a:accent4>
        <a:srgbClr val="3E6E8E"/>
      </a:accent4>
      <a:accent5>
        <a:srgbClr val="8C6A5D"/>
      </a:accent5>
      <a:accent6>
        <a:srgbClr val="B9B1AC"/>
      </a:accent6>
      <a:hlink>
        <a:srgbClr val="3E6E8E"/>
      </a:hlink>
      <a:folHlink>
        <a:srgbClr val="8C6A5D"/>
      </a:folHlink>
    </a:clrScheme>
    <a:fontScheme name="Limpieza de dat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Valores faltantes y duplicados</dc:title>
  <dc:subject>PptxGenJS Presentation</dc:subject>
  <dc:creator>PptxGenJS</dc:creator>
  <cp:lastModifiedBy>PptxGenJS</cp:lastModifiedBy>
  <cp:revision>1</cp:revision>
  <dcterms:created xsi:type="dcterms:W3CDTF">2026-10-26T19:59:05Z</dcterms:created>
  <dcterms:modified xsi:type="dcterms:W3CDTF">2026-10-26T19:59:05Z</dcterms:modified>
</cp:coreProperties>
</file>