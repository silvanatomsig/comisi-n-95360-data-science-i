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d1761ee0-dee2-041a-6bca-07c035492c8f}">
          <p14:sldIdLst>
            <p14:sldId id="256"/>
          </p14:sldIdLst>
        </p14:section>
        <p14:section name="Matplotlib" id="{9e781b6f-2e6d-7137-e54c-ee418a5524c4}">
          <p14:sldIdLst>
            <p14:sldId id="257"/>
            <p14:sldId id="258"/>
            <p14:sldId id="259"/>
            <p14:sldId id="260"/>
            <p14:sldId id="261"/>
          </p14:sldIdLst>
        </p14:section>
        <p14:section name="Distribuciones" id="{832bd168-0878-ebbd-1701-745c06a39240}">
          <p14:sldIdLst>
            <p14:sldId id="262"/>
            <p14:sldId id="263"/>
          </p14:sldIdLst>
        </p14:section>
        <p14:section name="Seaborn" id="{7dffe5ab-ede7-064c-38e0-abad968cf62a}">
          <p14:sldIdLst>
            <p14:sldId id="264"/>
            <p14:sldId id="265"/>
            <p14:sldId id="266"/>
            <p14:sldId id="267"/>
          </p14:sldIdLst>
        </p14:section>
        <p14:section name="Visualización avanzada" id="{c289d065-b81b-83af-d5d6-6464832996a8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Buenas prácticas" id="{71a40a22-1955-c7b7-84cc-047185b05141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Visualización de datos: de Matplotlib a la narrativa visual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0233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8CCD6"/>
                </a:solidFill>
              </a:rPr>
              <a:t>Conceptos clave de Figure y Axes, análisis de distribuciones, Seaborn y diseño de dashboards</a:t>
            </a:r>
            <a:endParaRPr lang="en-US" sz="2000" dirty="0"/>
          </a:p>
        </p:txBody>
      </p:sp>
      <p:sp>
        <p:nvSpPr>
          <p:cNvPr id="4" name="Barra decorativa"/>
          <p:cNvSpPr/>
          <p:nvPr/>
        </p:nvSpPr>
        <p:spPr>
          <a:xfrm>
            <a:off x="8138160" y="2926080"/>
            <a:ext cx="502920" cy="2926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Barra decorativa"/>
          <p:cNvSpPr/>
          <p:nvPr/>
        </p:nvSpPr>
        <p:spPr>
          <a:xfrm>
            <a:off x="8823960" y="1828800"/>
            <a:ext cx="502920" cy="402336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Barra decorativa"/>
          <p:cNvSpPr/>
          <p:nvPr/>
        </p:nvSpPr>
        <p:spPr>
          <a:xfrm>
            <a:off x="9509760" y="3657600"/>
            <a:ext cx="502920" cy="21945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" name="Barra decorativa"/>
          <p:cNvSpPr/>
          <p:nvPr/>
        </p:nvSpPr>
        <p:spPr>
          <a:xfrm>
            <a:off x="10195560" y="1097280"/>
            <a:ext cx="502920" cy="47548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Barra decorativa"/>
          <p:cNvSpPr/>
          <p:nvPr/>
        </p:nvSpPr>
        <p:spPr>
          <a:xfrm>
            <a:off x="10881360" y="2560320"/>
            <a:ext cx="502920" cy="32918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Ruta de la clase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54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</a:rPr>
              <a:t>Matplotlib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554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3D"/>
                </a:solidFill>
              </a:rPr>
              <a:t>Figure, Axes, estilos de trabajo, subplots y personalización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468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</a:rPr>
              <a:t>Distribuciones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4688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3D"/>
                </a:solidFill>
              </a:rPr>
              <a:t>Análisis univariado: histograma, KDE y lectura de la forma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</a:rPr>
              <a:t>Seaborn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383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3D"/>
                </a:solidFill>
              </a:rPr>
              <a:t>Boxplot, violinplot y heatmap para comparar grupos y variables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297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</a:rPr>
              <a:t>Visualización avanzada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297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3D"/>
                </a:solidFill>
              </a:rPr>
              <a:t>Narrativa, principios de diseño, color y dashboards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</a:rPr>
              <a:t>Buenas prácticas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3D"/>
                </a:solidFill>
              </a:rPr>
              <a:t>Trampas visuales y criterios para elegir el gráfico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¿Por qué visualizar datos?</a:t>
            </a:r>
            <a:endParaRPr lang="en-US" sz="3400" dirty="0"/>
          </a:p>
        </p:txBody>
      </p:sp>
      <p:sp>
        <p:nvSpPr>
          <p:cNvPr id="3" name="Tarjeta Escala humana"/>
          <p:cNvSpPr/>
          <p:nvPr/>
        </p:nvSpPr>
        <p:spPr>
          <a:xfrm>
            <a:off x="548640" y="1554480"/>
            <a:ext cx="3514344" cy="3291840"/>
          </a:xfrm>
          <a:prstGeom prst="roundRect">
            <a:avLst>
              <a:gd name="adj" fmla="val 2778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Escala humana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50592"/>
            <a:ext cx="30571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No podemos procesar miles de números a la vez, pero sí detectar una línea que cae. La visualización compensa nuestra limitación cognitiva.</a:t>
            </a:r>
            <a:endParaRPr lang="en-US" sz="1600" dirty="0"/>
          </a:p>
        </p:txBody>
      </p:sp>
      <p:sp>
        <p:nvSpPr>
          <p:cNvPr id="8" name="Tarjeta Herramienta para pensar"/>
          <p:cNvSpPr/>
          <p:nvPr/>
        </p:nvSpPr>
        <p:spPr>
          <a:xfrm>
            <a:off x="4337304" y="1554480"/>
            <a:ext cx="3514344" cy="3291840"/>
          </a:xfrm>
          <a:prstGeom prst="roundRect">
            <a:avLst>
              <a:gd name="adj" fmla="val 2778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05984" y="178308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Herramienta para pensar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2450592"/>
            <a:ext cx="30571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No es decoración final: es una herramienta heurística que ayuda a descubrir patrones, anomalías y nuevas preguntas.</a:t>
            </a:r>
            <a:endParaRPr lang="en-US" sz="1600" dirty="0"/>
          </a:p>
        </p:txBody>
      </p:sp>
      <p:sp>
        <p:nvSpPr>
          <p:cNvPr id="13" name="Tarjeta Puente hacia la decisión"/>
          <p:cNvSpPr/>
          <p:nvPr/>
        </p:nvSpPr>
        <p:spPr>
          <a:xfrm>
            <a:off x="8125968" y="1554480"/>
            <a:ext cx="3514344" cy="3291840"/>
          </a:xfrm>
          <a:prstGeom prst="roundRect">
            <a:avLst>
              <a:gd name="adj" fmla="val 2778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94648" y="178308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Puente hacia la decisión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2450592"/>
            <a:ext cx="30571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Traduce el análisis técnico en comprensión humana. Un buen gráfico convence donde una tabla no logra hacerlo.</a:t>
            </a:r>
            <a:endParaRPr lang="en-US" sz="1600" dirty="0"/>
          </a:p>
        </p:txBody>
      </p:sp>
      <p:sp>
        <p:nvSpPr>
          <p:cNvPr id="18" name="Mensaje clave"/>
          <p:cNvSpPr/>
          <p:nvPr/>
        </p:nvSpPr>
        <p:spPr>
          <a:xfrm>
            <a:off x="548640" y="52120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21208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Visualizar es reducir la carga cognitiva para liberar espacio mental para el análisis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Modelo de objetos: Figure, Axes y Axis</a:t>
            </a:r>
            <a:endParaRPr lang="en-US" sz="3400" dirty="0"/>
          </a:p>
        </p:txBody>
      </p:sp>
      <p:sp>
        <p:nvSpPr>
          <p:cNvPr id="3" name="Figure"/>
          <p:cNvSpPr/>
          <p:nvPr/>
        </p:nvSpPr>
        <p:spPr>
          <a:xfrm>
            <a:off x="548640" y="1463040"/>
            <a:ext cx="5852160" cy="4480560"/>
          </a:xfrm>
          <a:prstGeom prst="roundRect">
            <a:avLst>
              <a:gd name="adj" fmla="val 2041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Figure · el lienzo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2560320" cy="3383280"/>
          </a:xfrm>
          <a:prstGeom prst="rect">
            <a:avLst/>
          </a:prstGeom>
          <a:solidFill>
            <a:srgbClr val="FFFFFF"/>
          </a:solidFill>
          <a:ln w="31750">
            <a:solidFill>
              <a:srgbClr val="1B998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998B"/>
                </a:solidFill>
              </a:rPr>
              <a:t>Axes · el gráfico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</a:rPr>
              <a:t>Axis 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074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B"/>
                </a:solidFill>
              </a:rPr>
              <a:t>Axis 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560320" cy="3383280"/>
          </a:xfrm>
          <a:prstGeom prst="rect">
            <a:avLst/>
          </a:prstGeom>
          <a:solidFill>
            <a:srgbClr val="FFFFFF"/>
          </a:solidFill>
          <a:ln w="3175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998B"/>
                </a:solidFill>
              </a:rPr>
              <a:t>Axes · el gráfico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</a:rPr>
              <a:t>Axis 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5074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B"/>
                </a:solidFill>
              </a:rPr>
              <a:t>Axis X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1463040"/>
            <a:ext cx="48463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263A"/>
                </a:solidFill>
              </a:rPr>
              <a:t>Figure.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Contenedor de nivel superior. Gestiona el espacio total y el fondo; no dibuja datos.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263A"/>
                </a:solidFill>
              </a:rPr>
              <a:t>Axes.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Lo que solemos llamar “un gráfico”: área de trazado con título, leyenda y ejes. Vive dentro de una Figure.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263A"/>
                </a:solidFill>
              </a:rPr>
              <a:t>Axis.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La regla graduada (X o Y) que pone las marcas (ticks) y los números.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263A"/>
                </a:solidFill>
              </a:rPr>
              <a:t>Artist.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Todo lo visible en la Figure (líneas, textos, ticks) es un objeto Artist.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Dos estilos de trabajo en Matplotlib</a:t>
            </a:r>
            <a:endParaRPr lang="en-US" sz="3400" dirty="0"/>
          </a:p>
        </p:txBody>
      </p:sp>
      <p:sp>
        <p:nvSpPr>
          <p:cNvPr id="3" name="Tarjeta Pyplot · interfaz implícita"/>
          <p:cNvSpPr/>
          <p:nvPr/>
        </p:nvSpPr>
        <p:spPr>
          <a:xfrm>
            <a:off x="548640" y="1463040"/>
            <a:ext cx="5394960" cy="3474720"/>
          </a:xfrm>
          <a:prstGeom prst="roundRect">
            <a:avLst>
              <a:gd name="adj" fmla="val 263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Pyplot · interfaz implícita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Matplotlib asume en qué gráfico quieres dibujar.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Ventaja: rápido para exploraciones simples.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Problema: con varios gráficos es confuso saber a cuál le hablas.</a:t>
            </a:r>
            <a:endParaRPr lang="en-US" sz="1600" dirty="0"/>
          </a:p>
        </p:txBody>
      </p:sp>
      <p:sp>
        <p:nvSpPr>
          <p:cNvPr id="8" name="Tarjeta Orientado a objetos · explícita"/>
          <p:cNvSpPr/>
          <p:nvPr/>
        </p:nvSpPr>
        <p:spPr>
          <a:xfrm>
            <a:off x="6245352" y="1463040"/>
            <a:ext cx="5394960" cy="3474720"/>
          </a:xfrm>
          <a:prstGeom prst="roundRect">
            <a:avLst>
              <a:gd name="adj" fmla="val 263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3952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3952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14032" y="1691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Orientado a objetos · explícita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359152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Guardas variables para la Figure y el Axes.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Sabes siempre qué objeto modificas.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Es el estándar profesional: escala a varios gráficos y es más fácil de mantener.</a:t>
            </a:r>
            <a:endParaRPr lang="en-US" sz="1600" dirty="0"/>
          </a:p>
        </p:txBody>
      </p:sp>
      <p:sp>
        <p:nvSpPr>
          <p:cNvPr id="13" name="Mensaje clave"/>
          <p:cNvSpPr/>
          <p:nvPr/>
        </p:nvSpPr>
        <p:spPr>
          <a:xfrm>
            <a:off x="548640" y="52120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21208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Explorar rápido → Pyplot  ·  Construir visualizaciones reales → Orientado a objetos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Subplots y personalización básica</a:t>
            </a:r>
            <a:endParaRPr lang="en-US" sz="3400" dirty="0"/>
          </a:p>
        </p:txBody>
      </p:sp>
      <p:sp>
        <p:nvSpPr>
          <p:cNvPr id="3" name="Tarjeta Estructura con subplots"/>
          <p:cNvSpPr/>
          <p:nvPr/>
        </p:nvSpPr>
        <p:spPr>
          <a:xfrm>
            <a:off x="548640" y="1554480"/>
            <a:ext cx="3514344" cy="384048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Estructura con subplots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50592"/>
            <a:ext cx="30571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Define filas × columnas de Axes dentro de una Figure. Organiza varias vistas en una sola hoja: base del Análisis Exploratorio de Datos (EDA).</a:t>
            </a:r>
            <a:endParaRPr lang="en-US" sz="1600" dirty="0"/>
          </a:p>
        </p:txBody>
      </p:sp>
      <p:sp>
        <p:nvSpPr>
          <p:cNvPr id="8" name="Tarjeta Contexto del gráfico"/>
          <p:cNvSpPr/>
          <p:nvPr/>
        </p:nvSpPr>
        <p:spPr>
          <a:xfrm>
            <a:off x="4337304" y="1554480"/>
            <a:ext cx="3514344" cy="384048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05984" y="178308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Contexto del gráfico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2450592"/>
            <a:ext cx="30571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Título (la historia), etiquetas de ejes con sus unidades, leyenda si hay varias series, límites de ejes y una grilla suave para leer valores.</a:t>
            </a:r>
            <a:endParaRPr lang="en-US" sz="1600" dirty="0"/>
          </a:p>
        </p:txBody>
      </p:sp>
      <p:sp>
        <p:nvSpPr>
          <p:cNvPr id="13" name="Tarjeta Ajustes finales"/>
          <p:cNvSpPr/>
          <p:nvPr/>
        </p:nvSpPr>
        <p:spPr>
          <a:xfrm>
            <a:off x="8125968" y="1554480"/>
            <a:ext cx="3514344" cy="384048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94648" y="178308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Ajustes finales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2450592"/>
            <a:ext cx="30571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Tamaño de figura (figsize, en pulgadas), estilos predefinidos, tight_layout para evitar solapamientos y resolución (dpi) al exportar.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6B7B"/>
                </a:solidFill>
              </a:rPr>
              <a:t>Un gráfico sin etiquetas es solo una forma abstracta: el contexto lo convierte en información.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Análisis univariado: histograma y KDE</a:t>
            </a:r>
            <a:endParaRPr lang="en-US" sz="3400" dirty="0"/>
          </a:p>
        </p:txBody>
      </p:sp>
      <p:sp>
        <p:nvSpPr>
          <p:cNvPr id="3" name="Tarjeta Histograma"/>
          <p:cNvSpPr/>
          <p:nvPr/>
        </p:nvSpPr>
        <p:spPr>
          <a:xfrm>
            <a:off x="548640" y="14630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Histograma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3057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Divide el rango de una variable numérica en intervalos (bins). El eje X muestra los intervalos y el eje Y cuántos datos caen en cada uno.</a:t>
            </a:r>
            <a:endParaRPr lang="en-US" sz="1600" dirty="0"/>
          </a:p>
        </p:txBody>
      </p:sp>
      <p:sp>
        <p:nvSpPr>
          <p:cNvPr id="8" name="Tarjeta Elección de bins"/>
          <p:cNvSpPr/>
          <p:nvPr/>
        </p:nvSpPr>
        <p:spPr>
          <a:xfrm>
            <a:off x="4337304" y="14630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5904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05984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Elección de bins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2359152"/>
            <a:ext cx="3057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Pocos bins: imagen demasiado general que oculta detalles, como varios picos. Demasiados: gráfico ruidoso con picos aislados. Conviene probar varios.</a:t>
            </a:r>
            <a:endParaRPr lang="en-US" sz="1600" dirty="0"/>
          </a:p>
        </p:txBody>
      </p:sp>
      <p:sp>
        <p:nvSpPr>
          <p:cNvPr id="13" name="Tarjeta KDE"/>
          <p:cNvSpPr/>
          <p:nvPr/>
        </p:nvSpPr>
        <p:spPr>
          <a:xfrm>
            <a:off x="8125968" y="14630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4568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94648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KDE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2359152"/>
            <a:ext cx="3057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Kernel Density Estimation: suaviza el histograma colocando una pequeña “colina” sobre cada observación y sumándolas. Estima la densidad sin depender del corte de bins.</a:t>
            </a:r>
            <a:endParaRPr lang="en-US" sz="1600" dirty="0"/>
          </a:p>
        </p:txBody>
      </p:sp>
      <p:sp>
        <p:nvSpPr>
          <p:cNvPr id="18" name="Mensaje clave"/>
          <p:cNvSpPr/>
          <p:nvPr/>
        </p:nvSpPr>
        <p:spPr>
          <a:xfrm>
            <a:off x="548640" y="52120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21208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Preguntas del análisis univariado: valor más común · dispersión · outliers · simetría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Leyendo la forma de una distribución</a:t>
            </a:r>
            <a:endParaRPr lang="en-US" sz="3400" dirty="0"/>
          </a:p>
        </p:txBody>
      </p:sp>
      <p:sp>
        <p:nvSpPr>
          <p:cNvPr id="3" name="Tarjeta Simetría"/>
          <p:cNvSpPr/>
          <p:nvPr/>
        </p:nvSpPr>
        <p:spPr>
          <a:xfrm>
            <a:off x="548640" y="14630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Simetría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3057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La mitad izquierda es espejo de la derecha (campana de Gauss). Media y mediana coinciden.</a:t>
            </a:r>
            <a:endParaRPr lang="en-US" sz="1600" dirty="0"/>
          </a:p>
        </p:txBody>
      </p:sp>
      <p:sp>
        <p:nvSpPr>
          <p:cNvPr id="8" name="Tarjeta Sesgo (skewness)"/>
          <p:cNvSpPr/>
          <p:nvPr/>
        </p:nvSpPr>
        <p:spPr>
          <a:xfrm>
            <a:off x="4337304" y="14630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5904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05984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Sesgo (skewness)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2359152"/>
            <a:ext cx="3057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A la derecha: cola larga hacia valores altos y la media supera a la mediana. A la izquierda: cola hacia valores bajos.</a:t>
            </a:r>
            <a:endParaRPr lang="en-US" sz="1600" dirty="0"/>
          </a:p>
        </p:txBody>
      </p:sp>
      <p:sp>
        <p:nvSpPr>
          <p:cNvPr id="13" name="Tarjeta Multimodalidad"/>
          <p:cNvSpPr/>
          <p:nvPr/>
        </p:nvSpPr>
        <p:spPr>
          <a:xfrm>
            <a:off x="8125968" y="14630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4568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94648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Multimodalidad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2359152"/>
            <a:ext cx="3057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Dos o más “jorobas” suelen indicar subgrupos mezclados en los datos.</a:t>
            </a:r>
            <a:endParaRPr lang="en-US" sz="1600" dirty="0"/>
          </a:p>
        </p:txBody>
      </p:sp>
      <p:sp>
        <p:nvSpPr>
          <p:cNvPr id="18" name="Mensaje clave"/>
          <p:cNvSpPr/>
          <p:nvPr/>
        </p:nvSpPr>
        <p:spPr>
          <a:xfrm>
            <a:off x="548640" y="52120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21208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Histograma ≠ gráfico de barras: el primero es para numéricas continuas; el segundo, para categóricas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Seaborn: una capa estadística sobre Matplotlib</a:t>
            </a:r>
            <a:endParaRPr lang="en-US" sz="3400" dirty="0"/>
          </a:p>
        </p:txBody>
      </p:sp>
      <p:sp>
        <p:nvSpPr>
          <p:cNvPr id="3" name="Tarjeta Alto nivel"/>
          <p:cNvSpPr/>
          <p:nvPr/>
        </p:nvSpPr>
        <p:spPr>
          <a:xfrm>
            <a:off x="548640" y="14630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Alto nivel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3057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Construida sobre Matplotlib y pensada para el análisis estadístico: menos código para gráficos más completos.</a:t>
            </a:r>
            <a:endParaRPr lang="en-US" sz="1600" dirty="0"/>
          </a:p>
        </p:txBody>
      </p:sp>
      <p:sp>
        <p:nvSpPr>
          <p:cNvPr id="8" name="Tarjeta Integración con Pandas"/>
          <p:cNvSpPr/>
          <p:nvPr/>
        </p:nvSpPr>
        <p:spPr>
          <a:xfrm>
            <a:off x="4337304" y="14630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5904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05984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Integración con Pandas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2359152"/>
            <a:ext cx="3057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Recibe un DataFrame y los nombres de las columnas para los ejes y para separar grupos por color (hue).</a:t>
            </a:r>
            <a:endParaRPr lang="en-US" sz="1600" dirty="0"/>
          </a:p>
        </p:txBody>
      </p:sp>
      <p:sp>
        <p:nvSpPr>
          <p:cNvPr id="13" name="Tarjeta Estadística y estética"/>
          <p:cNvSpPr/>
          <p:nvPr/>
        </p:nvSpPr>
        <p:spPr>
          <a:xfrm>
            <a:off x="8125968" y="14630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4568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94648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Estadística y estética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2359152"/>
            <a:ext cx="3057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Calcula medianas, intervalos de confianza y densidades al dibujar, con temas y paletas modernas desde una línea.</a:t>
            </a:r>
            <a:endParaRPr lang="en-US" sz="1600" dirty="0"/>
          </a:p>
        </p:txBody>
      </p:sp>
      <p:sp>
        <p:nvSpPr>
          <p:cNvPr id="18" name="Mensaje clave"/>
          <p:cNvSpPr/>
          <p:nvPr/>
        </p:nvSpPr>
        <p:spPr>
          <a:xfrm>
            <a:off x="548640" y="52120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21208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 complementan: Seaborn crea rápido y Matplotlib afina los detalles finales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Boxplot: el resumen de cinco números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103120" y="2011680"/>
            <a:ext cx="0" cy="3566160"/>
          </a:xfrm>
          <a:prstGeom prst="line">
            <a:avLst/>
          </a:prstGeom>
          <a:noFill/>
          <a:ln w="25400">
            <a:solidFill>
              <a:srgbClr val="1226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0" y="2011680"/>
            <a:ext cx="731520" cy="0"/>
          </a:xfrm>
          <a:prstGeom prst="line">
            <a:avLst/>
          </a:prstGeom>
          <a:noFill/>
          <a:ln w="25400">
            <a:solidFill>
              <a:srgbClr val="1226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5577840"/>
            <a:ext cx="731520" cy="0"/>
          </a:xfrm>
          <a:prstGeom prst="line">
            <a:avLst/>
          </a:prstGeom>
          <a:noFill/>
          <a:ln w="25400">
            <a:solidFill>
              <a:srgbClr val="12263A"/>
            </a:solidFill>
            <a:prstDash val="solid"/>
          </a:ln>
        </p:spPr>
      </p:sp>
      <p:sp>
        <p:nvSpPr>
          <p:cNvPr id="6" name="Caja"/>
          <p:cNvSpPr/>
          <p:nvPr/>
        </p:nvSpPr>
        <p:spPr>
          <a:xfrm>
            <a:off x="1463040" y="3108960"/>
            <a:ext cx="1280160" cy="1371600"/>
          </a:xfrm>
          <a:prstGeom prst="rect">
            <a:avLst/>
          </a:prstGeom>
          <a:solidFill>
            <a:srgbClr val="EAF3F4"/>
          </a:solidFill>
          <a:ln w="31750">
            <a:solidFill>
              <a:srgbClr val="1B99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3840480"/>
            <a:ext cx="1280160" cy="0"/>
          </a:xfrm>
          <a:prstGeom prst="line">
            <a:avLst/>
          </a:prstGeom>
          <a:noFill/>
          <a:ln w="50800">
            <a:solidFill>
              <a:srgbClr val="F2A5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463040"/>
            <a:ext cx="182880" cy="1828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5943600"/>
            <a:ext cx="182880" cy="1828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896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</a:rPr>
              <a:t>Outliers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</a:rPr>
              <a:t>Máximo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</a:rPr>
              <a:t>Q3 · 75%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</a:rPr>
              <a:t>Mediana (Q2)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4343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</a:rPr>
              <a:t>Q1 · 25%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5440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</a:rPr>
              <a:t>Mínimo</a:t>
            </a:r>
            <a:endParaRPr lang="en-US" sz="1500" dirty="0"/>
          </a:p>
        </p:txBody>
      </p:sp>
      <p:sp>
        <p:nvSpPr>
          <p:cNvPr id="16" name="Tarjeta IQR: la caja"/>
          <p:cNvSpPr/>
          <p:nvPr/>
        </p:nvSpPr>
        <p:spPr>
          <a:xfrm>
            <a:off x="5760720" y="1463040"/>
            <a:ext cx="5879592" cy="2651760"/>
          </a:xfrm>
          <a:prstGeom prst="roundRect">
            <a:avLst>
              <a:gd name="adj" fmla="val 3448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893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691640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IQR: la caja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2359152"/>
            <a:ext cx="54223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Q3 − Q1: contiene el 50% central de los datos. Caja larga = mucha dispersión. Mediana descentrada = distribución sesgada. Los bigotes llegan hasta el último dato no atípico (≈ 1,5 × IQR).</a:t>
            </a:r>
            <a:endParaRPr lang="en-US" sz="1600" dirty="0"/>
          </a:p>
        </p:txBody>
      </p:sp>
      <p:sp>
        <p:nvSpPr>
          <p:cNvPr id="21" name="Tarjeta Outliers"/>
          <p:cNvSpPr/>
          <p:nvPr/>
        </p:nvSpPr>
        <p:spPr>
          <a:xfrm>
            <a:off x="5760720" y="4297680"/>
            <a:ext cx="5879592" cy="1828800"/>
          </a:xfrm>
          <a:prstGeom prst="roundRect">
            <a:avLst>
              <a:gd name="adj" fmla="val 5000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452628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893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526280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Outliers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5193792"/>
            <a:ext cx="5422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Puntos fuera de los bigotes. No siempre son errores de carga: pueden ser casos valiosos o fallas críticas. Hay que decidir qué hacer con ellos.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Violinplot y cuándo elegir cada gráfico</a:t>
            </a:r>
            <a:endParaRPr lang="en-US" sz="3400" dirty="0"/>
          </a:p>
        </p:txBody>
      </p:sp>
      <p:sp>
        <p:nvSpPr>
          <p:cNvPr id="3" name="Tarjeta Boxplot"/>
          <p:cNvSpPr/>
          <p:nvPr/>
        </p:nvSpPr>
        <p:spPr>
          <a:xfrm>
            <a:off x="548640" y="1463040"/>
            <a:ext cx="3514344" cy="420624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Boxplot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30571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Resumen ejecutivo: cinco números, variabilidad general y valores extremos. Ideal para audiencias no técnicas y grupos pequeños.</a:t>
            </a:r>
            <a:endParaRPr lang="en-US" sz="1600" dirty="0"/>
          </a:p>
        </p:txBody>
      </p:sp>
      <p:sp>
        <p:nvSpPr>
          <p:cNvPr id="8" name="Tarjeta Violinplot"/>
          <p:cNvSpPr/>
          <p:nvPr/>
        </p:nvSpPr>
        <p:spPr>
          <a:xfrm>
            <a:off x="4337304" y="1463040"/>
            <a:ext cx="3514344" cy="420624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5904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05984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Violinplot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2359152"/>
            <a:ext cx="30571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Informe detallado: combina boxplot y curva de densidad (KDE). El ancho indica dónde se concentran los datos y revela multimodalidad que dos cajas idénticas ocultarían.</a:t>
            </a:r>
            <a:endParaRPr lang="en-US" sz="1600" dirty="0"/>
          </a:p>
        </p:txBody>
      </p:sp>
      <p:sp>
        <p:nvSpPr>
          <p:cNvPr id="13" name="Tarjeta Precauciones"/>
          <p:cNvSpPr/>
          <p:nvPr/>
        </p:nvSpPr>
        <p:spPr>
          <a:xfrm>
            <a:off x="8125968" y="1463040"/>
            <a:ext cx="3514344" cy="420624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4568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94648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Precauciones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2359152"/>
            <a:ext cx="30571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Con pocos registros el violín engaña con falsa precisión: usa boxplot o stripplot. Ordena las categorías por mediana y evita comparar grupos de tamaños muy dispares.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Heatmap y matriz de correlación</a:t>
            </a:r>
            <a:endParaRPr lang="en-US" sz="3400" dirty="0"/>
          </a:p>
        </p:txBody>
      </p:sp>
      <p:sp>
        <p:nvSpPr>
          <p:cNvPr id="3" name="Escala de color"/>
          <p:cNvSpPr/>
          <p:nvPr/>
        </p:nvSpPr>
        <p:spPr>
          <a:xfrm>
            <a:off x="548640" y="1463040"/>
            <a:ext cx="1584525" cy="502920"/>
          </a:xfrm>
          <a:prstGeom prst="rect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sp>
        <p:nvSpPr>
          <p:cNvPr id="4" name="Escala de color"/>
          <p:cNvSpPr/>
          <p:nvPr/>
        </p:nvSpPr>
        <p:spPr>
          <a:xfrm>
            <a:off x="2133165" y="1463040"/>
            <a:ext cx="1584525" cy="502920"/>
          </a:xfrm>
          <a:prstGeom prst="rect">
            <a:avLst/>
          </a:prstGeom>
          <a:solidFill>
            <a:srgbClr val="EF8A62"/>
          </a:solidFill>
          <a:ln w="12700">
            <a:solidFill>
              <a:srgbClr val="EF8A62"/>
            </a:solidFill>
            <a:prstDash val="solid"/>
          </a:ln>
        </p:spPr>
      </p:sp>
      <p:sp>
        <p:nvSpPr>
          <p:cNvPr id="5" name="Escala de color"/>
          <p:cNvSpPr/>
          <p:nvPr/>
        </p:nvSpPr>
        <p:spPr>
          <a:xfrm>
            <a:off x="3717689" y="1463040"/>
            <a:ext cx="1584525" cy="502920"/>
          </a:xfrm>
          <a:prstGeom prst="rect">
            <a:avLst/>
          </a:prstGeom>
          <a:solidFill>
            <a:srgbClr val="FDDBC7"/>
          </a:solidFill>
          <a:ln w="12700">
            <a:solidFill>
              <a:srgbClr val="FDDBC7"/>
            </a:solidFill>
            <a:prstDash val="solid"/>
          </a:ln>
        </p:spPr>
      </p:sp>
      <p:sp>
        <p:nvSpPr>
          <p:cNvPr id="6" name="Escala de color"/>
          <p:cNvSpPr/>
          <p:nvPr/>
        </p:nvSpPr>
        <p:spPr>
          <a:xfrm>
            <a:off x="5302214" y="1463040"/>
            <a:ext cx="1584525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Escala de color"/>
          <p:cNvSpPr/>
          <p:nvPr/>
        </p:nvSpPr>
        <p:spPr>
          <a:xfrm>
            <a:off x="6886738" y="1463040"/>
            <a:ext cx="1584525" cy="502920"/>
          </a:xfrm>
          <a:prstGeom prst="rect">
            <a:avLst/>
          </a:prstGeom>
          <a:solidFill>
            <a:srgbClr val="D1E5F0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8" name="Escala de color"/>
          <p:cNvSpPr/>
          <p:nvPr/>
        </p:nvSpPr>
        <p:spPr>
          <a:xfrm>
            <a:off x="8471263" y="1463040"/>
            <a:ext cx="1584525" cy="502920"/>
          </a:xfrm>
          <a:prstGeom prst="rect">
            <a:avLst/>
          </a:prstGeom>
          <a:solidFill>
            <a:srgbClr val="67A9CF"/>
          </a:solidFill>
          <a:ln w="12700">
            <a:solidFill>
              <a:srgbClr val="67A9CF"/>
            </a:solidFill>
            <a:prstDash val="solid"/>
          </a:ln>
        </p:spPr>
      </p:sp>
      <p:sp>
        <p:nvSpPr>
          <p:cNvPr id="9" name="Escala de color"/>
          <p:cNvSpPr/>
          <p:nvPr/>
        </p:nvSpPr>
        <p:spPr>
          <a:xfrm>
            <a:off x="10055787" y="1463040"/>
            <a:ext cx="1584525" cy="502920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−1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725912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+1</a:t>
            </a:r>
            <a:endParaRPr lang="en-US" sz="1600" dirty="0"/>
          </a:p>
        </p:txBody>
      </p:sp>
      <p:sp>
        <p:nvSpPr>
          <p:cNvPr id="13" name="Tarjeta Correlación positiva"/>
          <p:cNvSpPr/>
          <p:nvPr/>
        </p:nvSpPr>
        <p:spPr>
          <a:xfrm>
            <a:off x="548640" y="2606040"/>
            <a:ext cx="3514344" cy="2194560"/>
          </a:xfrm>
          <a:prstGeom prst="roundRect">
            <a:avLst>
              <a:gd name="adj" fmla="val 4167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834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834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Correlación positiva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502152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Las variables se mueven juntas: si una sube, la otra también.</a:t>
            </a:r>
            <a:endParaRPr lang="en-US" sz="1600" dirty="0"/>
          </a:p>
        </p:txBody>
      </p:sp>
      <p:sp>
        <p:nvSpPr>
          <p:cNvPr id="18" name="Tarjeta Sin relación lineal"/>
          <p:cNvSpPr/>
          <p:nvPr/>
        </p:nvSpPr>
        <p:spPr>
          <a:xfrm>
            <a:off x="4337304" y="2606040"/>
            <a:ext cx="3514344" cy="2194560"/>
          </a:xfrm>
          <a:prstGeom prst="roundRect">
            <a:avLst>
              <a:gd name="adj" fmla="val 4167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5904" y="2834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65904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05984" y="2834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Sin relación lineal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3502152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Color neutro: no hay una relación lineal clara entre ellas.</a:t>
            </a:r>
            <a:endParaRPr lang="en-US" sz="1600" dirty="0"/>
          </a:p>
        </p:txBody>
      </p:sp>
      <p:sp>
        <p:nvSpPr>
          <p:cNvPr id="23" name="Tarjeta Correlación negativa"/>
          <p:cNvSpPr/>
          <p:nvPr/>
        </p:nvSpPr>
        <p:spPr>
          <a:xfrm>
            <a:off x="8125968" y="2606040"/>
            <a:ext cx="3514344" cy="2194560"/>
          </a:xfrm>
          <a:prstGeom prst="roundRect">
            <a:avLst>
              <a:gd name="adj" fmla="val 4167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54568" y="2834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54568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−1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994648" y="2834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Correlación negativa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354568" y="3502152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Se mueven en direcciones opuestas: si una sube, la otra baja.</a:t>
            </a:r>
            <a:endParaRPr lang="en-US" sz="1600" dirty="0"/>
          </a:p>
        </p:txBody>
      </p:sp>
      <p:sp>
        <p:nvSpPr>
          <p:cNvPr id="28" name="Mensaje clave"/>
          <p:cNvSpPr/>
          <p:nvPr/>
        </p:nvSpPr>
        <p:spPr>
          <a:xfrm>
            <a:off x="548640" y="50749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07492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Correlación ≠ causalidad  ·  Mide relación lineal (Pearson)  ·  Filtra variables: con demasiadas es ilegible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¿Qué gráfico elegir?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45079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Pregunta analítica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Gráfico recomendado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6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¿Hay valores extraños o mucha dispersión?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263A"/>
                          </a:solidFill>
                        </a:rPr>
                        <a:t>Boxplot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¿Cómo es la forma y dónde hay más densidad?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263A"/>
                          </a:solidFill>
                        </a:rPr>
                        <a:t>Histograma + KDE, violinplot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¿Qué variables están relacionadas o son redundantes?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263A"/>
                          </a:solidFill>
                        </a:rPr>
                        <a:t>Heatmap de correlación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¿Cómo se relacionan dos variables numéricas?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263A"/>
                          </a:solidFill>
                        </a:rPr>
                        <a:t>Gráfico de dispersión (scatter)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¿Cómo evoluciona en el tiempo?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263A"/>
                          </a:solidFill>
                        </a:rPr>
                        <a:t>Gráfico de líneas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¿Cómo se comparan categorías?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263A"/>
                          </a:solidFill>
                        </a:rPr>
                        <a:t>Barras ordenadas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¿Cómo se compone el total?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263A"/>
                          </a:solidFill>
                        </a:rPr>
                        <a:t>Barras o áreas apiladas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¿Qué hace “avanzada” a una visualización?</a:t>
            </a:r>
            <a:endParaRPr lang="en-US" sz="3400" dirty="0"/>
          </a:p>
        </p:txBody>
      </p:sp>
      <p:sp>
        <p:nvSpPr>
          <p:cNvPr id="3" name="Tarjeta Responde preguntas"/>
          <p:cNvSpPr/>
          <p:nvPr/>
        </p:nvSpPr>
        <p:spPr>
          <a:xfrm>
            <a:off x="548640" y="1554480"/>
            <a:ext cx="3514344" cy="3291840"/>
          </a:xfrm>
          <a:prstGeom prst="roundRect">
            <a:avLst>
              <a:gd name="adj" fmla="val 2778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Responde preguntas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50592"/>
            <a:ext cx="30571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No solo muestra datos: resuelve una duda científica o de negocio.</a:t>
            </a:r>
            <a:endParaRPr lang="en-US" sz="1600" dirty="0"/>
          </a:p>
        </p:txBody>
      </p:sp>
      <p:sp>
        <p:nvSpPr>
          <p:cNvPr id="8" name="Tarjeta Integra variables"/>
          <p:cNvSpPr/>
          <p:nvPr/>
        </p:nvSpPr>
        <p:spPr>
          <a:xfrm>
            <a:off x="4337304" y="1554480"/>
            <a:ext cx="3514344" cy="3291840"/>
          </a:xfrm>
          <a:prstGeom prst="roundRect">
            <a:avLst>
              <a:gd name="adj" fmla="val 2778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05984" y="178308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Integra variables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2450592"/>
            <a:ext cx="30571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Muestra cómo X afecta a Y mientras Z cambia en el tiempo.</a:t>
            </a:r>
            <a:endParaRPr lang="en-US" sz="1600" dirty="0"/>
          </a:p>
        </p:txBody>
      </p:sp>
      <p:sp>
        <p:nvSpPr>
          <p:cNvPr id="13" name="Tarjeta Prioriza la narrativa"/>
          <p:cNvSpPr/>
          <p:nvPr/>
        </p:nvSpPr>
        <p:spPr>
          <a:xfrm>
            <a:off x="8125968" y="1554480"/>
            <a:ext cx="3514344" cy="3291840"/>
          </a:xfrm>
          <a:prstGeom prst="roundRect">
            <a:avLst>
              <a:gd name="adj" fmla="val 2778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94648" y="178308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Prioriza la narrativa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2450592"/>
            <a:ext cx="30571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Guía al espectador hacia una conclusión lógica. Avanzada no significa complicada.</a:t>
            </a:r>
            <a:endParaRPr lang="en-US" sz="1600" dirty="0"/>
          </a:p>
        </p:txBody>
      </p:sp>
      <p:sp>
        <p:nvSpPr>
          <p:cNvPr id="18" name="Mensaje clave"/>
          <p:cNvSpPr/>
          <p:nvPr/>
        </p:nvSpPr>
        <p:spPr>
          <a:xfrm>
            <a:off x="548640" y="52120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21208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Pregunta primero, gráfico después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Cuatro propósitos del análisis visual</a:t>
            </a:r>
            <a:endParaRPr lang="en-US" sz="3400" dirty="0"/>
          </a:p>
        </p:txBody>
      </p:sp>
      <p:sp>
        <p:nvSpPr>
          <p:cNvPr id="3" name="Tarjeta Distribución"/>
          <p:cNvSpPr/>
          <p:nvPr/>
        </p:nvSpPr>
        <p:spPr>
          <a:xfrm>
            <a:off x="548640" y="14630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Distribución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¿Cómo se reparten los datos? Densidad, forma y outliers que podrían sesgar conclusiones.</a:t>
            </a:r>
            <a:endParaRPr lang="en-US" sz="1600" dirty="0"/>
          </a:p>
        </p:txBody>
      </p:sp>
      <p:sp>
        <p:nvSpPr>
          <p:cNvPr id="8" name="Tarjeta Relación y correlación"/>
          <p:cNvSpPr/>
          <p:nvPr/>
        </p:nvSpPr>
        <p:spPr>
          <a:xfrm>
            <a:off x="6245352" y="14630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3952" y="169164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3952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14032" y="1691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Relación y correlación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35915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¿Depende X de Y? Dispersión y heatmaps ayudan a descubrir patrones y anticipar comportamientos.</a:t>
            </a:r>
            <a:endParaRPr lang="en-US" sz="1600" dirty="0"/>
          </a:p>
        </p:txBody>
      </p:sp>
      <p:sp>
        <p:nvSpPr>
          <p:cNvPr id="13" name="Tarjeta Evolución temporal"/>
          <p:cNvSpPr/>
          <p:nvPr/>
        </p:nvSpPr>
        <p:spPr>
          <a:xfrm>
            <a:off x="548640" y="38404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0690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Evolución temporal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73659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Series de tiempo: importa la tendencia (crece, decrece o se estanca), más que el valor puntual.</a:t>
            </a:r>
            <a:endParaRPr lang="en-US" sz="1600" dirty="0"/>
          </a:p>
        </p:txBody>
      </p:sp>
      <p:sp>
        <p:nvSpPr>
          <p:cNvPr id="18" name="Tarjeta Composición"/>
          <p:cNvSpPr/>
          <p:nvPr/>
        </p:nvSpPr>
        <p:spPr>
          <a:xfrm>
            <a:off x="6245352" y="38404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3952" y="406908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73952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14032" y="40690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Composición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73952" y="473659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Partes del todo: cómo se estructura internamente una categoría. Barras o áreas apiladas.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Data storytelling e interactividad</a:t>
            </a:r>
            <a:endParaRPr lang="en-US" sz="3400" dirty="0"/>
          </a:p>
        </p:txBody>
      </p:sp>
      <p:sp>
        <p:nvSpPr>
          <p:cNvPr id="3" name="Tarjeta Inicio · contexto"/>
          <p:cNvSpPr/>
          <p:nvPr/>
        </p:nvSpPr>
        <p:spPr>
          <a:xfrm>
            <a:off x="548640" y="1463040"/>
            <a:ext cx="3514344" cy="2377440"/>
          </a:xfrm>
          <a:prstGeom prst="roundRect">
            <a:avLst>
              <a:gd name="adj" fmla="val 3846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Inicio · contexto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3057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¿Qué está pasando? Se plantea la situación general.</a:t>
            </a:r>
            <a:endParaRPr lang="en-US" sz="1600" dirty="0"/>
          </a:p>
        </p:txBody>
      </p:sp>
      <p:sp>
        <p:nvSpPr>
          <p:cNvPr id="8" name="Tarjeta Nudo · hallazgo"/>
          <p:cNvSpPr/>
          <p:nvPr/>
        </p:nvSpPr>
        <p:spPr>
          <a:xfrm>
            <a:off x="4337304" y="1463040"/>
            <a:ext cx="3514344" cy="2377440"/>
          </a:xfrm>
          <a:prstGeom prst="roundRect">
            <a:avLst>
              <a:gd name="adj" fmla="val 3846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5904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05984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Nudo · hallazgo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2359152"/>
            <a:ext cx="3057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¿Dónde está el problema o la oportunidad?</a:t>
            </a:r>
            <a:endParaRPr lang="en-US" sz="1600" dirty="0"/>
          </a:p>
        </p:txBody>
      </p:sp>
      <p:sp>
        <p:nvSpPr>
          <p:cNvPr id="13" name="Tarjeta Desenlace · acción"/>
          <p:cNvSpPr/>
          <p:nvPr/>
        </p:nvSpPr>
        <p:spPr>
          <a:xfrm>
            <a:off x="8125968" y="1463040"/>
            <a:ext cx="3514344" cy="2377440"/>
          </a:xfrm>
          <a:prstGeom prst="roundRect">
            <a:avLst>
              <a:gd name="adj" fmla="val 3846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4568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94648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Desenlace · acción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2359152"/>
            <a:ext cx="3057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¿Qué decisión debemos tomar a partir de lo visto?</a:t>
            </a:r>
            <a:endParaRPr lang="en-US" sz="1600" dirty="0"/>
          </a:p>
        </p:txBody>
      </p:sp>
      <p:sp>
        <p:nvSpPr>
          <p:cNvPr id="18" name="Tarjeta Interactividad"/>
          <p:cNvSpPr/>
          <p:nvPr/>
        </p:nvSpPr>
        <p:spPr>
          <a:xfrm>
            <a:off x="548640" y="41148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343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Interactividad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01091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Detalle bajo demanda: filtros, selectores de fecha y zoom permiten que cada usuario haga nuevas preguntas al gráfico.</a:t>
            </a:r>
            <a:endParaRPr lang="en-US" sz="1600" dirty="0"/>
          </a:p>
        </p:txBody>
      </p:sp>
      <p:sp>
        <p:nvSpPr>
          <p:cNvPr id="23" name="Tarjeta Una mejor pregunta"/>
          <p:cNvSpPr/>
          <p:nvPr/>
        </p:nvSpPr>
        <p:spPr>
          <a:xfrm>
            <a:off x="6245352" y="41148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3952" y="434340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3952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?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4343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Una mejor pregunta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73952" y="501091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Una buena visualización no termina con una respuesta: termina con una mejor pregunta.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Principios de diseño visual</a:t>
            </a:r>
            <a:endParaRPr lang="en-US" sz="3400" dirty="0"/>
          </a:p>
        </p:txBody>
      </p:sp>
      <p:sp>
        <p:nvSpPr>
          <p:cNvPr id="3" name="Tarjeta Gestalt"/>
          <p:cNvSpPr/>
          <p:nvPr/>
        </p:nvSpPr>
        <p:spPr>
          <a:xfrm>
            <a:off x="548640" y="14630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Gestalt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3057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Lo cercano o del mismo color se percibe como relacionado. Mantén la misma convención de color en todo el reporte.</a:t>
            </a:r>
            <a:endParaRPr lang="en-US" sz="1600" dirty="0"/>
          </a:p>
        </p:txBody>
      </p:sp>
      <p:sp>
        <p:nvSpPr>
          <p:cNvPr id="8" name="Tarjeta Atributos pre-atentivos"/>
          <p:cNvSpPr/>
          <p:nvPr/>
        </p:nvSpPr>
        <p:spPr>
          <a:xfrm>
            <a:off x="4337304" y="14630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5904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05984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Atributos pre-atentivos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2359152"/>
            <a:ext cx="3057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Se perciben sin pensar: longitud (cantidades), posición (relaciones) y color o intensidad (alertas).</a:t>
            </a:r>
            <a:endParaRPr lang="en-US" sz="1600" dirty="0"/>
          </a:p>
        </p:txBody>
      </p:sp>
      <p:sp>
        <p:nvSpPr>
          <p:cNvPr id="13" name="Tarjeta Data-ink ratio"/>
          <p:cNvSpPr/>
          <p:nvPr/>
        </p:nvSpPr>
        <p:spPr>
          <a:xfrm>
            <a:off x="8125968" y="14630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4568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94648" y="169164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Data-ink ratio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2359152"/>
            <a:ext cx="3057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Según Tufte, la mayor parte de la tinta debe mostrar datos. Elimina 3D, sombras y líneas que no ayudan a leer.</a:t>
            </a:r>
            <a:endParaRPr lang="en-US" sz="1600" dirty="0"/>
          </a:p>
        </p:txBody>
      </p:sp>
      <p:sp>
        <p:nvSpPr>
          <p:cNvPr id="18" name="Mensaje clave"/>
          <p:cNvSpPr/>
          <p:nvPr/>
        </p:nvSpPr>
        <p:spPr>
          <a:xfrm>
            <a:off x="548640" y="52120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21208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Menos es más: el diseño debe desaparecer para que los datos resalten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El color es información, no decoración</a:t>
            </a:r>
            <a:endParaRPr lang="en-US" sz="3400" dirty="0"/>
          </a:p>
        </p:txBody>
      </p:sp>
      <p:sp>
        <p:nvSpPr>
          <p:cNvPr id="3" name="Tarjeta Secuencial"/>
          <p:cNvSpPr/>
          <p:nvPr/>
        </p:nvSpPr>
        <p:spPr>
          <a:xfrm>
            <a:off x="548640" y="1463040"/>
            <a:ext cx="3511296" cy="3566160"/>
          </a:xfrm>
          <a:prstGeom prst="roundRect">
            <a:avLst>
              <a:gd name="adj" fmla="val 2604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Secuencial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30540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Valores numéricos ordenados, de menos a más (claro → oscuro).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4297680"/>
            <a:ext cx="548640" cy="457200"/>
          </a:xfrm>
          <a:prstGeom prst="rect">
            <a:avLst/>
          </a:prstGeom>
          <a:solidFill>
            <a:srgbClr val="DCEBF5"/>
          </a:solidFill>
          <a:ln w="12700">
            <a:solidFill>
              <a:srgbClr val="DCEB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99032" y="4297680"/>
            <a:ext cx="548640" cy="457200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0824" y="4297680"/>
            <a:ext cx="548640" cy="457200"/>
          </a:xfrm>
          <a:prstGeom prst="rect">
            <a:avLst/>
          </a:prstGeom>
          <a:solidFill>
            <a:srgbClr val="5499C7"/>
          </a:solidFill>
          <a:ln w="12700">
            <a:solidFill>
              <a:srgbClr val="5499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42616" y="4297680"/>
            <a:ext cx="548640" cy="45720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4297680"/>
            <a:ext cx="548640" cy="457200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13" name="Tarjeta Divergente"/>
          <p:cNvSpPr/>
          <p:nvPr/>
        </p:nvSpPr>
        <p:spPr>
          <a:xfrm>
            <a:off x="4338828" y="1463040"/>
            <a:ext cx="3511296" cy="3566160"/>
          </a:xfrm>
          <a:prstGeom prst="roundRect">
            <a:avLst>
              <a:gd name="adj" fmla="val 2604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7428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6742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07508" y="1691640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Divergente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67428" y="2359152"/>
            <a:ext cx="30540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Hay un punto medio crítico (cero, promedio): dos tonos opuestos con neutro al centro.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67428" y="4297680"/>
            <a:ext cx="548640" cy="457200"/>
          </a:xfrm>
          <a:prstGeom prst="rect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89220" y="4297680"/>
            <a:ext cx="548640" cy="457200"/>
          </a:xfrm>
          <a:prstGeom prst="rect">
            <a:avLst/>
          </a:prstGeom>
          <a:solidFill>
            <a:srgbClr val="EF8A62"/>
          </a:solidFill>
          <a:ln w="12700">
            <a:solidFill>
              <a:srgbClr val="EF8A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11012" y="4297680"/>
            <a:ext cx="548640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2804" y="4297680"/>
            <a:ext cx="548640" cy="457200"/>
          </a:xfrm>
          <a:prstGeom prst="rect">
            <a:avLst/>
          </a:prstGeom>
          <a:solidFill>
            <a:srgbClr val="67A9CF"/>
          </a:solidFill>
          <a:ln w="12700">
            <a:solidFill>
              <a:srgbClr val="67A9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54596" y="4297680"/>
            <a:ext cx="548640" cy="457200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23" name="Tarjeta Categórico"/>
          <p:cNvSpPr/>
          <p:nvPr/>
        </p:nvSpPr>
        <p:spPr>
          <a:xfrm>
            <a:off x="8129016" y="1463040"/>
            <a:ext cx="3511296" cy="3566160"/>
          </a:xfrm>
          <a:prstGeom prst="roundRect">
            <a:avLst>
              <a:gd name="adj" fmla="val 2604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57616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5761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997696" y="1691640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Categórico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357616" y="2359152"/>
            <a:ext cx="30540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Distingue grupos sin orden: pocos colores bien diferenciados.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57616" y="4297680"/>
            <a:ext cx="548640" cy="4572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79408" y="4297680"/>
            <a:ext cx="548640" cy="4572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0" y="4297680"/>
            <a:ext cx="548640" cy="45720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22992" y="4297680"/>
            <a:ext cx="548640" cy="4572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44784" y="4297680"/>
            <a:ext cx="548640" cy="457200"/>
          </a:xfrm>
          <a:prstGeom prst="rect">
            <a:avLst/>
          </a:prstGeom>
          <a:solidFill>
            <a:srgbClr val="8E6C8A"/>
          </a:solidFill>
          <a:ln w="12700">
            <a:solidFill>
              <a:srgbClr val="8E6C8A"/>
            </a:solidFill>
            <a:prstDash val="solid"/>
          </a:ln>
        </p:spPr>
      </p:sp>
      <p:sp>
        <p:nvSpPr>
          <p:cNvPr id="33" name="Mensaje clave"/>
          <p:cNvSpPr/>
          <p:nvPr/>
        </p:nvSpPr>
        <p:spPr>
          <a:xfrm>
            <a:off x="548640" y="52120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521208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Respeta las convenciones culturales y de tu industria, y considera el daltonismo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Dashboard y patrón de lectura en Z</a:t>
            </a:r>
            <a:endParaRPr lang="en-US" sz="3400" dirty="0"/>
          </a:p>
        </p:txBody>
      </p:sp>
      <p:sp>
        <p:nvSpPr>
          <p:cNvPr id="3" name="Tarjeta Ancla visual"/>
          <p:cNvSpPr/>
          <p:nvPr/>
        </p:nvSpPr>
        <p:spPr>
          <a:xfrm>
            <a:off x="548640" y="146304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Ancla visual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KPIs principales</a:t>
            </a:r>
            <a:endParaRPr lang="en-US" sz="1600" dirty="0"/>
          </a:p>
        </p:txBody>
      </p:sp>
      <p:sp>
        <p:nvSpPr>
          <p:cNvPr id="8" name="Tarjeta Contexto y control"/>
          <p:cNvSpPr/>
          <p:nvPr/>
        </p:nvSpPr>
        <p:spPr>
          <a:xfrm>
            <a:off x="3657600" y="146304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86200" y="169164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862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1691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Contexto y control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235915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Filtros, slicers, línea de tiempo</a:t>
            </a:r>
            <a:endParaRPr lang="en-US" sz="1600" dirty="0"/>
          </a:p>
        </p:txBody>
      </p:sp>
      <p:sp>
        <p:nvSpPr>
          <p:cNvPr id="13" name="Tarjeta Profundidad"/>
          <p:cNvSpPr/>
          <p:nvPr/>
        </p:nvSpPr>
        <p:spPr>
          <a:xfrm>
            <a:off x="548640" y="38404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0690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Profundidad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73659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Tendencias y comparativas</a:t>
            </a:r>
            <a:endParaRPr lang="en-US" sz="1600" dirty="0"/>
          </a:p>
        </p:txBody>
      </p:sp>
      <p:sp>
        <p:nvSpPr>
          <p:cNvPr id="18" name="Tarjeta Salida y detalle"/>
          <p:cNvSpPr/>
          <p:nvPr/>
        </p:nvSpPr>
        <p:spPr>
          <a:xfrm>
            <a:off x="3657600" y="38404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86200" y="406908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862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40690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Salida y detalle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886200" y="473659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Tablas de detalle, conclusiones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1722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</a:rPr>
              <a:t>Recorrido del ojo: 1 → 2 → 3 → 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146304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263A"/>
                </a:solidFill>
              </a:rPr>
              <a:t>Dashboard.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Panel que reúne varias visualizaciones en una sola vista para dar una imagen completa.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263A"/>
                </a:solidFill>
              </a:rPr>
              <a:t>Jerarquía visual.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Lo más importante, arriba a la izquierda.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263A"/>
                </a:solidFill>
              </a:rPr>
              <a:t>Coherencia visual.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Un mismo color significa lo mismo en todo el panel.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263A"/>
                </a:solidFill>
              </a:rPr>
              <a:t>Simplicidad.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Máximo unas 5 visualizaciones principales; el insight clave en 3 segundos.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</a:rPr>
              <a:t>Trampas visuales frecuentes</a:t>
            </a:r>
            <a:endParaRPr lang="en-US" sz="3400" dirty="0"/>
          </a:p>
        </p:txBody>
      </p:sp>
      <p:sp>
        <p:nvSpPr>
          <p:cNvPr id="3" name="Tarjeta Eje Y truncado"/>
          <p:cNvSpPr/>
          <p:nvPr/>
        </p:nvSpPr>
        <p:spPr>
          <a:xfrm>
            <a:off x="548640" y="1463040"/>
            <a:ext cx="3511296" cy="2240280"/>
          </a:xfrm>
          <a:prstGeom prst="roundRect">
            <a:avLst>
              <a:gd name="adj" fmla="val 4082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Eje Y truncado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Empezar en un valor distinto de cero exagera diferencias. Si es necesario, aclararlo.</a:t>
            </a:r>
            <a:endParaRPr lang="en-US" sz="1600" dirty="0"/>
          </a:p>
        </p:txBody>
      </p:sp>
      <p:sp>
        <p:nvSpPr>
          <p:cNvPr id="8" name="Tarjeta Pizza saturada"/>
          <p:cNvSpPr/>
          <p:nvPr/>
        </p:nvSpPr>
        <p:spPr>
          <a:xfrm>
            <a:off x="4338828" y="1463040"/>
            <a:ext cx="3511296" cy="2240280"/>
          </a:xfrm>
          <a:prstGeom prst="roundRect">
            <a:avLst>
              <a:gd name="adj" fmla="val 4082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7428" y="169164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742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07508" y="1691640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Pizza saturada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7428" y="2359152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El ojo compara mal ángulos y áreas. Mejor usar barras ordenadas.</a:t>
            </a:r>
            <a:endParaRPr lang="en-US" sz="1600" dirty="0"/>
          </a:p>
        </p:txBody>
      </p:sp>
      <p:sp>
        <p:nvSpPr>
          <p:cNvPr id="13" name="Tarjeta Exceso de decoración"/>
          <p:cNvSpPr/>
          <p:nvPr/>
        </p:nvSpPr>
        <p:spPr>
          <a:xfrm>
            <a:off x="8129016" y="1463040"/>
            <a:ext cx="3511296" cy="2240280"/>
          </a:xfrm>
          <a:prstGeom prst="roundRect">
            <a:avLst>
              <a:gd name="adj" fmla="val 4082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7616" y="169164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761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97696" y="1691640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Exceso de decoración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359152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3D, sombras y fondos añaden ruido y distorsionan proporciones.</a:t>
            </a:r>
            <a:endParaRPr lang="en-US" sz="1600" dirty="0"/>
          </a:p>
        </p:txBody>
      </p:sp>
      <p:sp>
        <p:nvSpPr>
          <p:cNvPr id="18" name="Tarjeta Gráfico espagueti"/>
          <p:cNvSpPr/>
          <p:nvPr/>
        </p:nvSpPr>
        <p:spPr>
          <a:xfrm>
            <a:off x="548640" y="3886200"/>
            <a:ext cx="3511296" cy="2240280"/>
          </a:xfrm>
          <a:prstGeom prst="roundRect">
            <a:avLst>
              <a:gd name="adj" fmla="val 4082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114800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Gráfico espagueti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82312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Demasiadas series en un solo Axes: separar en subplots.</a:t>
            </a:r>
            <a:endParaRPr lang="en-US" sz="1600" dirty="0"/>
          </a:p>
        </p:txBody>
      </p:sp>
      <p:sp>
        <p:nvSpPr>
          <p:cNvPr id="23" name="Tarjeta Sin unidades ni etiquetas"/>
          <p:cNvSpPr/>
          <p:nvPr/>
        </p:nvSpPr>
        <p:spPr>
          <a:xfrm>
            <a:off x="4338828" y="3886200"/>
            <a:ext cx="3511296" cy="2240280"/>
          </a:xfrm>
          <a:prstGeom prst="roundRect">
            <a:avLst>
              <a:gd name="adj" fmla="val 4082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67428" y="411480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67428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207508" y="4114800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Sin unidades ni etiquetas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67428" y="4782312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Un eje sin unidades no sirve para decidir.</a:t>
            </a:r>
            <a:endParaRPr lang="en-US" sz="1600" dirty="0"/>
          </a:p>
        </p:txBody>
      </p:sp>
      <p:sp>
        <p:nvSpPr>
          <p:cNvPr id="28" name="Tarjeta Ignorar a la audiencia"/>
          <p:cNvSpPr/>
          <p:nvPr/>
        </p:nvSpPr>
        <p:spPr>
          <a:xfrm>
            <a:off x="8129016" y="3886200"/>
            <a:ext cx="3511296" cy="2240280"/>
          </a:xfrm>
          <a:prstGeom prst="roundRect">
            <a:avLst>
              <a:gd name="adj" fmla="val 4082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57616" y="411480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57616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97696" y="4114800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Ignorar a la audiencia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357616" y="4782312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D"/>
                </a:solidFill>
              </a:rPr>
              <a:t>Equipo técnico y gerencia necesitan niveles de detalle distintos.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Síntesis: ideas clave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Estructura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463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EA"/>
                </a:solidFill>
              </a:rPr>
              <a:t>Figure contiene Axes; trabaja con el estilo orientado a objetos.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Distribución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3317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EA"/>
                </a:solidFill>
              </a:rPr>
              <a:t>Histograma, KDE, boxplot y violín muestran forma, dispersión y outliers.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Relaciones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2004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EA"/>
                </a:solidFill>
              </a:rPr>
              <a:t>Los heatmaps revelan variables relacionadas o redundantes.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Comunicación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069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EA"/>
                </a:solidFill>
              </a:rPr>
              <a:t>Narrativa, jerarquía, color con sentido y menos ruido.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37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Integridad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9377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EA"/>
                </a:solidFill>
              </a:rPr>
              <a:t>Ejes honestos, unidades claras y la audiencia en mente.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2A541"/>
                </a:solidFill>
              </a:rPr>
              <a:t>Para reflexionar: ¿qué gráfico usarías para explicar en 10 segundos por qué bajaron las ventas?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os">
  <a:themeElements>
    <a:clrScheme name="Datos">
      <a:dk1>
        <a:srgbClr val="1F2D3D"/>
      </a:dk1>
      <a:lt1>
        <a:srgbClr val="FFFFFF"/>
      </a:lt1>
      <a:dk2>
        <a:srgbClr val="12263A"/>
      </a:dk2>
      <a:lt2>
        <a:srgbClr val="EAF3F4"/>
      </a:lt2>
      <a:accent1>
        <a:srgbClr val="1B998B"/>
      </a:accent1>
      <a:accent2>
        <a:srgbClr val="F2A541"/>
      </a:accent2>
      <a:accent3>
        <a:srgbClr val="E4572E"/>
      </a:accent3>
      <a:accent4>
        <a:srgbClr val="3D5A80"/>
      </a:accent4>
      <a:accent5>
        <a:srgbClr val="7A9E9F"/>
      </a:accent5>
      <a:accent6>
        <a:srgbClr val="98C1D9"/>
      </a:accent6>
      <a:hlink>
        <a:srgbClr val="1B998B"/>
      </a:hlink>
      <a:folHlink>
        <a:srgbClr val="5B6B7B"/>
      </a:folHlink>
    </a:clrScheme>
    <a:fontScheme name="Dato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Visualización de datos: conceptos clave</dc:title>
  <dc:subject>PptxGenJS Presentation</dc:subject>
  <dc:creator>PptxGenJS</dc:creator>
  <cp:lastModifiedBy>PptxGenJS</cp:lastModifiedBy>
  <cp:revision>1</cp:revision>
  <dcterms:created xsi:type="dcterms:W3CDTF">2026-10-26T20:24:04Z</dcterms:created>
  <dcterms:modified xsi:type="dcterms:W3CDTF">2026-10-26T20:24:04Z</dcterms:modified>
</cp:coreProperties>
</file>