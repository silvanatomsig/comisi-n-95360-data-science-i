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Tiempo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A623"/>
              </a:solidFill>
              <a:effectLst/>
            </c:spPr>
          </c:dPt>
          <c:dPt>
            <c:idx val="1"/>
            <c:bubble3D val="0"/>
            <c:spPr>
              <a:solidFill>
                <a:srgbClr val="0E9AA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Limpieza y curaduría</c:v>
                </c:pt>
                <c:pt idx="1">
                  <c:v>Modelado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A3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0-1. Bienvenida. Presentar el tema: hoy vemos de dónde vienen los datos que vamos a analizar durante todo el curso. No hace falta saber programar todavía.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1-3. Leer los cuatro objetivos. Pedir a los estudiantes que al final de la clase se autoevalúen: ¿puedo explicarle esto a alguien?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3-5. Mostrar la ruta con tiempos. Hay dos momentos de participación: la actividad en parejas (minuto ~37) y el "detective de datos" (minuto ~55).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3-5. Contar la historia del dueño de la fábrica de galletas (30 años haciendo lo mismo: un operario anota temperaturas en un cuaderno, al final de la semana pasan las notas a una hoja de cálculo). Dejar la pregunta abierta y pedir 2 o 3 respuestas rápidas. La respuesta es "no", y la clase entera explica por qué.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5-9. Recorrer las cuatro revoluciones rápido. Insistir en que la cuarta no es "más robots": es que las máquinas sienten y se comunican. Termino acuñado en Alemania.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9-12. Analogía central de la clase: la empresa tiene un sistema nervioso digital. Sensores = sentidos, red = sistema nervioso, inteligencia de datos = cerebro. IoT = Internet de las Cosas. Pregunta al grupo: ¿qué "sentidos" tiene el horno de galletas si le ponemos sensores?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12-17. Es la distinción más importante de la primera mitad. Termómetro de mercurio -&gt; termómetro digital = digitalizar. Termómetro que alimenta un algoritmo que avisa que el horno fallará = transformar. Clave: en la transformación el dato genera una ACCIÓN o una decisión inteligente. Pregunta rápida: ¿escanear apuntes es digitalizar o transformar?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17-22. Frase para recordar: "Sin el cambio en las personas y los procesos, la tecnología es solo un gasto costoso." Preguntar: ¿cuál de los tres pilares creen que es el más difícil de cambiar? (Normalmente: personas.)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22-27. Este es el corazón conceptual. Aquí es donde entra el científico de datos: el paso 2. Retomar la fábrica de galletas: el sensor captura la vibración (1), un modelo detecta que es inusual (2), el sistema avisa y se detiene el horno antes de que se rompa (3).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27-30. Explicar los tres ejes con el ejemplo de cada fila. MES = sistema de ejecución de manufactura; ERP = planificación de recursos empresariales. No hace falta que memoricen las siglas, sí la idea: integrar es que los sistemas "se hablen". Estos términos aparecen en la tarea.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30-34. Cuatro tecnologías que hacen posible la transformación hoy y no hace veinte años. Gemelo digital: preguntar "¿qué probarían en un gemelo digital de la fábrica de galletas antes de hacerlo de verdad?" Edge: procesar cerca de donde se genera el dato.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34-37. La transformación digital no solo cambia CÓMO fabricamos, sino QUÉ vendemos. Eso es servitización. Pregunta: ¿qué otros productos podrían venderse "por resultado" en lugar de "por unidad"? (Ejemplos posibles: neumáticos por kilómetro, iluminación por hora de luz.)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37-39. Cerrar el bloque con la promesa práctica de la ciencia de datos industrial: pasar de arreglar lo que se rompió a anticipar lo que se va a romper. Volver al horno del lunes/martes: con datos, el lunes ya había una alerta.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39-42. Tres minutos en parejas y luego 2 o 3 parejas comparten. Es una versión corta del ejercicio de diagnóstico que queda de tarea. Si sobra tiempo, pedir a una pareja que explique qué acción física dispararía su dato.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42-46. El dato no es abstracto: es la representación digital de un fenómeno de la realidad. Manipular datos es intervenir sobre esa representación; si alteramos o borramos un dato, cambiamos la lente con la que la organización ve su entorno. Señalar las celdas rojas: la vibración sube, esa es la señal del lunes que nadie vio en el cuaderno. (Datos ficticios con fines didácticos.)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46-51. Recorrer las cinco etapas con la metáfora de una refinería de flujo continuo: nacimiento, custodia, transformación, conversión, impacto. En el almacenamiento el dato es latente: tiene potencial pero todavía no tiene valor. Destacar la etapa 3 como la del científico de datos. Pregunta: ¿en qué etapa estaba el problema del horno el lunes? (En la captura: el dato existía pero no viajaba.)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51-54. El formato del dato determina la estrategia de análisis. En este curso vamos a trabajar sobre todo con datos estructurados (tablas en Pandas). Lo no estructurado se convierte primero en estructurado con técnicas más avanzadas.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54-57. GIGO (Garbage In, Garbage Out) es cierto pero insuficiente: en producción, un dato malo introduce sesgos, pérdidas y fallos sistémicos. Cuatro dimensiones para auditar un dataset. Anticipar la siguiente diapositiva: van a buscar estos problemas en una tabla.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57-60. Actividad interactiva. Antes de que los estudiantes vean la leyenda, pídeles 1 minuto para encontrar los problemas (idealmente tapando el panel derecho). Luego contrastar con los cuatro colores. Pregunta extra: ¿qué haríamos con el nulo: borrarlo o imputarlo? Depende, y por eso importa el contexto del negocio. (Datos ficticios con fines didácticos.)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60-63. Metadatos: no analizan el fenómeno, analizan al dato en sí (de dónde viene, quién es el dueño, qué restricciones legales tiene). Pandas: no es solo para abrir Excel; es un motor en memoria construido sobre NumPy. Todavía no programamos: solo mostrar cómo se ve una operación vectorizada. Se practica en las próximas clases.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63-65 (puede extenderse). Romper el mito de principiante. Frase para recordar: "La limpieza no es un paso extra, ¡es el 80% del trabajo!" La proporción 80/20 es una regla práctica muy citada en la industria, no una cifra exacta.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63-65. Vista previa de lo que haremos en las próximas clases; no es necesario que entiendan cada línea hoy. Solo notar el patrón: primero inspeccionar (isnull, duplicated), luego corregir (drop_duplicates, tipos). Este flujo termina en un reporte de auditoría y un dataset óptimo para mantenimiento predictivo.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65-70. Cerrar con los errores que más se ven en la práctica. "Datitis" = guardar terabytes de datos de sensores que nadie mira: tener datos no es tener información. Pregunta para el grupo: ¿cuál de estos errores cometería primero una empresa entusiasmada con la IA?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70-73. Volver a la pregunta inicial: ¿es lo mismo ponerle un sensor al horno que transformar toda la fábrica? Pedir a un estudiante que la conteste con sus palabras usando los cuatro puntos. Volver también a los objetivos de la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73-75. Presentar la tarea (no entregable) y adelantar el próximo tema. Abrir preguntas finales.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DE DATOS I · NIVEL BÁSICO · CLASE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 4.0 y el ciclo de vida del dato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fábrica de galletas a la ciencia de datos: cómo un evento del mundo físico se convierte en una decisión.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75 minutos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0" y="914400"/>
            <a:ext cx="3108960" cy="3108960"/>
          </a:xfrm>
          <a:prstGeom prst="ellipse">
            <a:avLst/>
          </a:prstGeom>
          <a:solidFill>
            <a:srgbClr val="13293D"/>
          </a:solidFill>
          <a:ln w="25400">
            <a:solidFill>
              <a:srgbClr val="1E42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46520" y="1691640"/>
            <a:ext cx="1554480" cy="1554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5140" y="2080260"/>
            <a:ext cx="777240" cy="777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715000" y="685800"/>
            <a:ext cx="640080" cy="6400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020" y="845820"/>
            <a:ext cx="320040" cy="3200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183880" y="1463040"/>
            <a:ext cx="640080" cy="6400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0" y="1623060"/>
            <a:ext cx="320040" cy="3200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772400" y="3520440"/>
            <a:ext cx="640080" cy="6400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2420" y="368046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la clase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731520" cy="7315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6459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</a:t>
            </a:r>
            <a:pPr indent="0" marL="0"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la Industria 4.0 y qué es un sistema ciberfísico.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783080"/>
            <a:ext cx="731520" cy="7315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16459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</a:t>
            </a:r>
            <a:pPr indent="0" marL="0"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digitalizar de transformar digitalmente una empresa.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337560"/>
            <a:ext cx="731520" cy="7315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337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32004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</a:t>
            </a:r>
            <a:pPr indent="0" marL="0"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de vida del dato: de un sensor a una acción.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3337560"/>
            <a:ext cx="731520" cy="7315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3337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852160" y="32004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</a:t>
            </a:r>
            <a:pPr indent="0" marL="0"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 calidad del dato es el 80% del trabajo.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Ruta de la clase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63040"/>
            <a:ext cx="1234440" cy="384048"/>
          </a:xfrm>
          <a:prstGeom prst="roundRect">
            <a:avLst>
              <a:gd name="adj" fmla="val 2381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630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 min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408176"/>
            <a:ext cx="6309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fábrica de galletas: el problema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121408"/>
            <a:ext cx="1234440" cy="384048"/>
          </a:xfrm>
          <a:prstGeom prst="roundRect">
            <a:avLst>
              <a:gd name="adj" fmla="val 23810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1214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5–22 min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2066544"/>
            <a:ext cx="6309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 4.0 y transformación digital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Revoluciones, sistemas ciberfísicos, digitalizar vs. transformar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688336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779776"/>
            <a:ext cx="1234440" cy="384048"/>
          </a:xfrm>
          <a:prstGeom prst="roundRect">
            <a:avLst>
              <a:gd name="adj" fmla="val 2381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77977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22–42 min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148840" y="2724912"/>
            <a:ext cx="6309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mundo físico al digital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captura, integración, tecnologías, casos y actividad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346704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438144"/>
            <a:ext cx="1234440" cy="384048"/>
          </a:xfrm>
          <a:prstGeom prst="roundRect">
            <a:avLst>
              <a:gd name="adj" fmla="val 23810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43814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42–65 min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148840" y="3383280"/>
            <a:ext cx="6309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del dato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tipos de datos, calidad, Pandas y la regla 80/20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005072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4096512"/>
            <a:ext cx="1234440" cy="384048"/>
          </a:xfrm>
          <a:prstGeom prst="roundRect">
            <a:avLst>
              <a:gd name="adj" fmla="val 2381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40965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65–75 min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148840" y="4041648"/>
            <a:ext cx="6309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comunes, buenas prácticas y síntesis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· 0–5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fábrica de galletas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45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LUNES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86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temperatura del horno vibra de forma inusual. Nadie lo nota: el dato vive en un cuaderno.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2011680"/>
            <a:ext cx="548640" cy="411480"/>
          </a:xfrm>
          <a:prstGeom prst="rightArrow">
            <a:avLst/>
          </a:prstGeom>
          <a:solidFill>
            <a:srgbClr val="5B6B7B"/>
          </a:solidFill>
          <a:ln w="12700">
            <a:solidFill>
              <a:srgbClr val="5B6B7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37760" y="1417320"/>
            <a:ext cx="3657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166360" y="1600200"/>
            <a:ext cx="548640" cy="54864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7373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852160" y="1645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MARTES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5166360" y="2286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horno se rompe y recién ahí te enteras. Quizás se podía evitar el lunes.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48640" y="3337560"/>
            <a:ext cx="8046720" cy="12344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22960" y="3383280"/>
            <a:ext cx="7498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¿Es lo mismo ponerle un sensor al horno que </a:t>
            </a:r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transformar toda la fábrica?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 4.0 · 5–22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revoluciones industriales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92024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640080" cy="6400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602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00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1ª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4231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Vapor y mecanización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2461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máquinas reemplazan la fuerza manual.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87752" y="1417320"/>
            <a:ext cx="192024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70632" y="1600200"/>
            <a:ext cx="640080" cy="6400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652" y="17602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93592" y="1600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2ª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2770632" y="24231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Electricidad y producción en masa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2770632" y="32461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línea de montaje de Ford.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626864" y="1417320"/>
            <a:ext cx="192024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09744" y="1600200"/>
            <a:ext cx="640080" cy="6400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764" y="17602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632704" y="1600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3ª</a:t>
            </a:r>
            <a:endParaRPr lang="en-US" sz="2800" dirty="0"/>
          </a:p>
        </p:txBody>
      </p:sp>
      <p:sp>
        <p:nvSpPr>
          <p:cNvPr id="20" name="Text 15"/>
          <p:cNvSpPr txBox="1"/>
          <p:nvPr/>
        </p:nvSpPr>
        <p:spPr>
          <a:xfrm>
            <a:off x="4809744" y="24231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Electrónica e informática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809744" y="32461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PLCs: controladores lógicos programables.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665976" y="1417320"/>
            <a:ext cx="1920240" cy="278892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48856" y="1600200"/>
            <a:ext cx="640080" cy="6400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8876" y="176022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671816" y="1600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4ª</a:t>
            </a:r>
            <a:endParaRPr lang="en-US" sz="2800" dirty="0"/>
          </a:p>
        </p:txBody>
      </p:sp>
      <p:sp>
        <p:nvSpPr>
          <p:cNvPr id="26" name="Text 20"/>
          <p:cNvSpPr txBox="1"/>
          <p:nvPr/>
        </p:nvSpPr>
        <p:spPr>
          <a:xfrm>
            <a:off x="6848856" y="24231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ciberfísicos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6848856" y="32461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+ internet + datos. Es la Industria 4.0.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43434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término “Industria 4.0” se acuñó originalmente en Alemania.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 4.0 · 5–22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sistema nervioso digital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603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00200"/>
            <a:ext cx="685800" cy="6858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77165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231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SENTIDOS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Sensores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017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Capturan lo que pasa: temperatura, vibración, posición.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1417320"/>
            <a:ext cx="25603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20440" y="1600200"/>
            <a:ext cx="685800" cy="6858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890" y="1771650"/>
            <a:ext cx="342900" cy="342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20440" y="24231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NERVIOSO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352044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/ IoT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3520440" y="3017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máquinas entre sí y con las personas por internet.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35040" y="1417320"/>
            <a:ext cx="25603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63640" y="1600200"/>
            <a:ext cx="685800" cy="6858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090" y="1771650"/>
            <a:ext cx="342900" cy="3429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63640" y="24231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CEREBRO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626364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Inteligencia de datos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6263640" y="3017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y decide qué hacer con lo que se siente.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3840480"/>
            <a:ext cx="8046720" cy="7772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77240" y="38862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ciberfísico: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profunda de la computación con los procesos físicos. Las máquinas no solo obedecen órdenes: “sienten” su entorno.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 4.0 · 5–22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Digitalizar no es transformar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32918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Digitalizar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Eficacia en el almacenamiento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Generación de valor y nuevos modelos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dato por sí mismo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decisión basada en el dato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Técnico: cambia la herramienta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Estratégico: cambia el proceso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291840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34015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DIGITALIZAR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6576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Escanear una factura y guardarla como PDF. El proceso sigue igual; solo cambió el formato.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3291840"/>
            <a:ext cx="3931920" cy="13258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892040" y="34015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892040" y="36576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algoritmo extrae los gastos, predice el del mes próximo y alerta si un proveedor cobra de más.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 4.0 · 5–22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tres pilares del cambio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017520" cy="32004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Transformación digital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comprar el software más caro ni tener una app. Es un cambio organizacional: usar tecnología para crear o modificar procesos, cultura y experiencias de cliente.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749040" y="1417320"/>
            <a:ext cx="4846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931920" y="1600200"/>
            <a:ext cx="640080" cy="6400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1940" y="176022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754880" y="150876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Personas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Mentalidad y cultura de decisiones basadas en datos.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3749040" y="2514600"/>
            <a:ext cx="4846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931920" y="2697480"/>
            <a:ext cx="640080" cy="6400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28575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754880" y="260604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Procesos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Rediseñar cómo trabajamos para ganar agilidad digital.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3749040" y="3611880"/>
            <a:ext cx="4846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931920" y="3794760"/>
            <a:ext cx="640080" cy="6400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39547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754880" y="370332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herramientas que habilitan los dos pilares anteriores.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MUNDO FÍSICO → DIGITAL · 22–42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Físico → digital → físico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377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002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860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FÍSICO AL DIGITAL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6060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Sensores, clics en una web o la señal GPS de un camión capturan eventos que se convierten en datos.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99232" y="2606040"/>
            <a:ext cx="402336" cy="365760"/>
          </a:xfrm>
          <a:prstGeom prst="rightArrow">
            <a:avLst/>
          </a:prstGeom>
          <a:solidFill>
            <a:srgbClr val="5B6B7B"/>
          </a:solidFill>
          <a:ln w="12700">
            <a:solidFill>
              <a:srgbClr val="5B6B7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417320"/>
            <a:ext cx="2377440" cy="27432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0" y="160020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16002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22860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MUNDO DIGITAL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26060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3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Pandas o Scikit-Learn procesamos los datos, buscamos patrones y predecimos.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25312" y="2606040"/>
            <a:ext cx="402336" cy="365760"/>
          </a:xfrm>
          <a:prstGeom prst="rightArrow">
            <a:avLst/>
          </a:prstGeom>
          <a:solidFill>
            <a:srgbClr val="5B6B7B"/>
          </a:solidFill>
          <a:ln w="12700">
            <a:solidFill>
              <a:srgbClr val="5B6B7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1417320"/>
            <a:ext cx="2377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83680" y="160020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16002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ACCIÓN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22860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DIGITAL AL FÍSICO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26060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“la máquina se sobrecalentará en 2 horas”. Un operario la detiene o el sistema ajusta la potencia.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el ciclo se repite: cada acción sobre el mundo físico genera nuevos datos.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MUNDO FÍSICO → DIGITAL · 22–42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ejes de integración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640080" cy="6400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602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5087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horizontal</a:t>
            </a:r>
            <a:endParaRPr lang="en-US" sz="17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empresas, proveedores y clientes.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4389120" y="15087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cliente compra en Madrid y el proveedor de materia prima en Brasil recibe la señal para reponer stock.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514600"/>
            <a:ext cx="8046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2697480"/>
            <a:ext cx="640080" cy="6400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8575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606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vertical</a:t>
            </a:r>
            <a:endParaRPr lang="en-US" sz="17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la misma planta.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389120" y="26060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de la máquina → MES → ERP: el costo real de producción por unidad, en tiempo real.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611880"/>
            <a:ext cx="8046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794760"/>
            <a:ext cx="640080" cy="6400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39547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703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Ingeniería de extremo a extremo</a:t>
            </a:r>
            <a:endParaRPr lang="en-US" sz="17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 largo de la vida del producto.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4389120" y="37033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diseño digital (CAD y simulaciones) hasta la fabricación, el uso y el reciclaje.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MUNDO FÍSICO → DIGITAL · 22–42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Tecnologías habilitadoras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08760"/>
            <a:ext cx="594360" cy="59436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65735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5087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IIoT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14884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sensores y máquinas que recolectan y comparten datos.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Electric: sensores en motores de avión transmiten su rendimiento en pleno vuelo.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32588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508760"/>
            <a:ext cx="594360" cy="59436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910" y="165735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5087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Gemelo digital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846320" y="214884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 virtual exacta de un objeto o proceso físico.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un cambio en el modelo antes de arriesgarlo en la fábrica real. Siemens simula ciudades enteras.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01752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200400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334899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32004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Data y analítica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384048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que encuentran patrones en volúmenes masivos.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el Data Science es protagonista: sin él, el dato es solo ruido.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663440" y="301752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3200400"/>
            <a:ext cx="594360" cy="59436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4910" y="334899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23560" y="32004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Nube y Edge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4846320" y="384048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nube escala la potencia de cálculo; Edge procesa junto a la máquina.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evita retrasos de milisegundos que podrían causar un accidente.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MUNDO FÍSICO → DIGITAL · 22–42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Servitización: caso Rolls-Royce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2194560"/>
          </a:xfrm>
          <a:prstGeom prst="rect">
            <a:avLst/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72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Vender productos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 el motor a la aerolínea y cobra las reparaciones cuando algo se rompe.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06240" y="2286000"/>
            <a:ext cx="731520" cy="457200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0" y="1417320"/>
            <a:ext cx="3566160" cy="21945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257800" y="1572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· POWER BY THE HOUR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1874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Vender resultados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2468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aerolínea paga por hora de vuelo exitosa. Rolls-Royce hace el mantenimiento preventivo según los datos.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8404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intereses del fabricante y del cliente se alinean. Ambos quieren que el motor nunca falle, y eso solo es posible con una infraestructura digital sólida.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MUNDO FÍSICO → DIGITAL · 22–42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Reactivo vs. predictivo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108960" cy="32004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“Los datos son como el petróleo: por sí solos no sirven de mucho, pero refinados mueven el mundo.”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611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trabajo como científico de datos: refinar.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0" y="1417320"/>
            <a:ext cx="4754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023360" y="1600200"/>
            <a:ext cx="640080" cy="64008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3380" y="176022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846320" y="150876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Mantenimiento reactivo</a:t>
            </a:r>
            <a:endParaRPr lang="en-US" sz="17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 máquina se rompió, arréglala.”</a:t>
            </a:r>
            <a:endParaRPr lang="en-US" sz="17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alto.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3840480" y="3108960"/>
            <a:ext cx="4754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023360" y="3291840"/>
            <a:ext cx="640080" cy="6400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380" y="345186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846320" y="320040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Mantenimiento predictivo</a:t>
            </a:r>
            <a:endParaRPr lang="en-US" sz="17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“Esta pieza fallará pronto, cámbiala ahora.”</a:t>
            </a:r>
            <a:endParaRPr lang="en-US" sz="17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masivo.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5E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· 39–42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 en parejas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77440" cy="237744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737360"/>
            <a:ext cx="914400" cy="9144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9659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min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parejas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1463040"/>
            <a:ext cx="5303520" cy="914400"/>
          </a:xfrm>
          <a:prstGeom prst="rect">
            <a:avLst/>
          </a:prstGeom>
          <a:solidFill>
            <a:srgbClr val="126F75"/>
          </a:solidFill>
          <a:ln w="12700">
            <a:solidFill>
              <a:srgbClr val="126F7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664208"/>
            <a:ext cx="512064" cy="51206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74720" y="1664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206240" y="150876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Elijan una empresa: Tesla, John Deere o una fábrica local de alimentos.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291840" y="2514600"/>
            <a:ext cx="5303520" cy="914400"/>
          </a:xfrm>
          <a:prstGeom prst="rect">
            <a:avLst/>
          </a:prstGeom>
          <a:solidFill>
            <a:srgbClr val="126F75"/>
          </a:solidFill>
          <a:ln w="12700">
            <a:solidFill>
              <a:srgbClr val="126F7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74720" y="2715768"/>
            <a:ext cx="512064" cy="51206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474720" y="2715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4206240" y="256032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Nombren un dispositivo IIoT que capturaría datos en su planta.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291840" y="3566160"/>
            <a:ext cx="5303520" cy="914400"/>
          </a:xfrm>
          <a:prstGeom prst="rect">
            <a:avLst/>
          </a:prstGeom>
          <a:solidFill>
            <a:srgbClr val="126F75"/>
          </a:solidFill>
          <a:ln w="12700">
            <a:solidFill>
              <a:srgbClr val="126F7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474720" y="3767328"/>
            <a:ext cx="512064" cy="51206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474720" y="3767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4206240" y="361188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Propongan una decisión que ese dato podría disparar. ¿Reactiva o predictiva?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DEL DATO · 42–65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dato: huella de un evento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017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fila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evento que ya sucedió: un latido, una fricción, un cliente que dudó.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3017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310896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columna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propiedad de ese evento: cuándo, dónde, cuánto.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417320"/>
          <a:ext cx="47548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155448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temperatura_C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vibración_mm_s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3840480" y="3886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fila es una lectura del sensor. La vibración sube antes de que falle el horno: la señal del lunes.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DEL DATO · 42–65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pipeline del dato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5087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554480"/>
            <a:ext cx="685800" cy="6858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570" y="172593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8368" y="23317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NACIMIENTO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606040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Ingesta y captura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3108960"/>
            <a:ext cx="1289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IoT, logs, transacciones, apps.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066544" y="2514600"/>
            <a:ext cx="118872" cy="201168"/>
          </a:xfrm>
          <a:prstGeom prst="rightArrow">
            <a:avLst/>
          </a:prstGeom>
          <a:solidFill>
            <a:srgbClr val="5B6B7B"/>
          </a:solidFill>
          <a:ln w="12700">
            <a:solidFill>
              <a:srgbClr val="5B6B7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85416" y="1417320"/>
            <a:ext cx="15087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96896" y="1554480"/>
            <a:ext cx="685800" cy="6858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346" y="1725930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295144" y="23317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CUSTODIA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2203704" y="2606040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Almacenamiento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2295144" y="3108960"/>
            <a:ext cx="1289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Lakes y Warehouses: S3, Snowflake, BigQuery.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703320" y="2514600"/>
            <a:ext cx="118872" cy="201168"/>
          </a:xfrm>
          <a:prstGeom prst="rightArrow">
            <a:avLst/>
          </a:prstGeom>
          <a:solidFill>
            <a:srgbClr val="5B6B7B"/>
          </a:solidFill>
          <a:ln w="12700">
            <a:solidFill>
              <a:srgbClr val="5B6B7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822192" y="1417320"/>
            <a:ext cx="1508760" cy="25146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233672" y="1554480"/>
            <a:ext cx="685800" cy="6858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5122" y="1725930"/>
            <a:ext cx="342900" cy="3429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3931920" y="23317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TRANSFORMACIÓN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3840480" y="2606040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Procesamiento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3931920" y="3108960"/>
            <a:ext cx="1289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Quitar ruido, resolver inconsistencias, tipar datos.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340096" y="2514600"/>
            <a:ext cx="118872" cy="201168"/>
          </a:xfrm>
          <a:prstGeom prst="rightArrow">
            <a:avLst/>
          </a:prstGeom>
          <a:solidFill>
            <a:srgbClr val="5B6B7B"/>
          </a:solidFill>
          <a:ln w="12700">
            <a:solidFill>
              <a:srgbClr val="5B6B7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458968" y="1417320"/>
            <a:ext cx="15087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870448" y="1554480"/>
            <a:ext cx="685800" cy="6858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1898" y="1725930"/>
            <a:ext cx="342900" cy="3429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5568696" y="23317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CONVERSIÓN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5477256" y="2606040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Modelado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5568696" y="3108960"/>
            <a:ext cx="1289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para hallar patrones ocultos.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6976872" y="2514600"/>
            <a:ext cx="118872" cy="201168"/>
          </a:xfrm>
          <a:prstGeom prst="rightArrow">
            <a:avLst/>
          </a:prstGeom>
          <a:solidFill>
            <a:srgbClr val="5B6B7B"/>
          </a:solidFill>
          <a:ln w="12700">
            <a:solidFill>
              <a:srgbClr val="5B6B7B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7095744" y="1417320"/>
            <a:ext cx="15087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507224" y="1554480"/>
            <a:ext cx="685800" cy="6858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8674" y="1725930"/>
            <a:ext cx="342900" cy="34290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7205472" y="23317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IMPACTO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7114032" y="2606040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Acción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7205472" y="3108960"/>
            <a:ext cx="1289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cambia la realidad: detiene una máquina.</a:t>
            </a:r>
            <a:endParaRPr lang="en-US" sz="1100" dirty="0"/>
          </a:p>
        </p:txBody>
      </p:sp>
      <p:sp>
        <p:nvSpPr>
          <p:cNvPr id="38" name="Text 31"/>
          <p:cNvSpPr txBox="1"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trabajas tú. </a:t>
            </a:r>
            <a:pPr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etapa de procesamiento es donde opera la ciencia de datos, y donde se va la mayor parte del tiempo.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DEL DATO · 42–65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tipos de datos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60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572768"/>
            <a:ext cx="594360" cy="59436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21358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Estructurados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97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con esquema rígido: SQL y DataFrames.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004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eficientes de procesar, pero capturan solo una parte rígida de la realidad.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1417320"/>
            <a:ext cx="2560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20440" y="1572768"/>
            <a:ext cx="594360" cy="59436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1721358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2044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Semi-estructurados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520440" y="2697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JSON, XML y bases NoSQL.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520440" y="32004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Tienen etiquetas y jerarquías, pero no una estructura fija. Estándar en APIs y eventos web.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35040" y="1417320"/>
            <a:ext cx="2560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63640" y="1572768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230" y="1721358"/>
            <a:ext cx="297180" cy="2971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6364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estructurados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263640" y="2697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Imágenes, audio, video y texto libre.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263640" y="32004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del 80% de los datos globales. Requieren NLP o Visión por Computadora para estructurarlos.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4206240"/>
            <a:ext cx="8046720" cy="365760"/>
          </a:xfrm>
          <a:prstGeom prst="rightArrow">
            <a:avLst/>
          </a:prstGeom>
          <a:solidFill>
            <a:srgbClr val="D5DEE7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4864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creciente de análisis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DEL DATO · 42–65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 del dato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508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Completitud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9659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¿Faltan registros? Los nulos (NaN) suelen esconder un problema: por ejemplo, un sensor que se apaga a cierta temperatura.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371600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554480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916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77840" y="1508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Unicidad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577840" y="19659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duplicados distorsionan medias y medianas y sesgan los algoritmos supervisados.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2834640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017520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1546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Exactitud y validez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34290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¿Respeta la física y el negocio? −273 °C en un motor o 150 años de edad son números, pero imposibles.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63440" y="2834640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3017520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15468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7784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Consistencia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577840" y="34290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dato vive en varias tablas, debe decir exactamente lo mismo en todas.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GIGO: </a:t>
            </a:r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entra basura, sale basura. Y además: sesgos, pérdidas y fallos de seguridad.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DEL DATO · 42–65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Detective de datos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47548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188720"/>
                <a:gridCol w="1463040"/>
                <a:gridCol w="1463040"/>
              </a:tblGrid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temp_C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08:00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(vacío)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08:00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F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F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F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FF0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0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08:00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horno_1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9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577840" y="1371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dimensión de calidad falla en cada color?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577840" y="20574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DE8C4"/>
          </a:solidFill>
          <a:ln w="12700">
            <a:solidFill>
              <a:srgbClr val="B8C4D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80760" y="20116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Completitud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la temperatura de H2.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577840" y="26974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DEFF0"/>
          </a:solidFill>
          <a:ln w="12700">
            <a:solidFill>
              <a:srgbClr val="B8C4D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80760" y="26517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Unicidad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fila 5 repite la 4.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577840" y="33375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9D0D0"/>
          </a:solidFill>
          <a:ln w="12700">
            <a:solidFill>
              <a:srgbClr val="B8C4D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80760" y="32918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Validez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−273 °C es imposible en un horno.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577840" y="39776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4D9F5"/>
          </a:solidFill>
          <a:ln w="12700">
            <a:solidFill>
              <a:srgbClr val="B8C4D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80760" y="39319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“horno_1” debería ser “H1”.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DEL DATO · 42–65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Metadatos y Pandas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554480"/>
            <a:ext cx="594360" cy="59436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0307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5544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Metadatos</a:t>
            </a:r>
            <a:endParaRPr lang="en-US" sz="20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ADN del dataset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317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Procedencia y linaje del dato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del esquema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de privacidad (GDPR)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 de los campos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de tiempo de modificación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8862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metadatos, un dataset es un objeto anónimo e inutilizable.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3931920" cy="324612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92040" y="1554480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630" y="170307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623560" y="15544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20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quirófano del Data Scientist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4892040" y="233172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1D con índice.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2D estructurada.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Vectorización: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sobre millones de filas sin for loops.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892040" y="3749040"/>
            <a:ext cx="3520440" cy="640080"/>
          </a:xfrm>
          <a:prstGeom prst="rect">
            <a:avLst/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0292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EE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df["temp_C"].mean()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DEL DATO · 42–65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80% del trabajo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38404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75488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mito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16916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Data Scientist pasa el día entrenando redes neuronales.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2606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realidad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754880" y="28803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80% del proyecto es data wrangling: limpieza y curaduría. El modelado es el 20% restante.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54880" y="3794760"/>
            <a:ext cx="3840480" cy="82296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37760" y="3794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mediocre con datos impecables supera al mejor modelo con datos sucios.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DEL DATO · 42–65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dato crudo al dato limpio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5B6B7B"/>
          </a:solidFill>
          <a:ln w="12700">
            <a:solidFill>
              <a:srgbClr val="5B6B7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crudo (.xlsx)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04872" y="1627632"/>
            <a:ext cx="201168" cy="219456"/>
          </a:xfrm>
          <a:prstGeom prst="rightArrow">
            <a:avLst/>
          </a:prstGeom>
          <a:solidFill>
            <a:srgbClr val="5B6B7B"/>
          </a:solidFill>
          <a:ln w="12700">
            <a:solidFill>
              <a:srgbClr val="5B6B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24328" y="13716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15768" y="1371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 exploratoria (EDA)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1627632"/>
            <a:ext cx="201168" cy="219456"/>
          </a:xfrm>
          <a:prstGeom prst="rightArrow">
            <a:avLst/>
          </a:prstGeom>
          <a:solidFill>
            <a:srgbClr val="5B6B7B"/>
          </a:solidFill>
          <a:ln w="12700">
            <a:solidFill>
              <a:srgbClr val="5B6B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0016" y="13716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91456" y="1371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Curaduría y saneamiento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56248" y="1627632"/>
            <a:ext cx="201168" cy="219456"/>
          </a:xfrm>
          <a:prstGeom prst="rightArrow">
            <a:avLst/>
          </a:prstGeom>
          <a:solidFill>
            <a:srgbClr val="5B6B7B"/>
          </a:solidFill>
          <a:ln w="12700">
            <a:solidFill>
              <a:srgbClr val="5B6B7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75704" y="13716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67144" y="1371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 alta calidad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377440"/>
            <a:ext cx="5029200" cy="2240280"/>
          </a:xfrm>
          <a:prstGeom prst="rect">
            <a:avLst/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251460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3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pd.read_excel("hornos.xlsx")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3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</a:t>
            </a:r>
            <a:pPr indent="0" marL="0">
              <a:buNone/>
            </a:pPr>
            <a:r>
              <a:rPr lang="en-US" sz="1100" dirty="0">
                <a:solidFill>
                  <a:srgbClr val="7EE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nulos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3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df.duplicated().sum()</a:t>
            </a:r>
            <a:pPr indent="0" marL="0">
              <a:buNone/>
            </a:pPr>
            <a:r>
              <a:rPr lang="en-US" sz="1100" dirty="0">
                <a:solidFill>
                  <a:srgbClr val="7EE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duplicados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3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df.drop_duplicates()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3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df["temp_C"] = df["temp_C"].astype(float)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60720" y="2377440"/>
            <a:ext cx="2834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943600" y="24231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nulos, anomalías físicas y duplicados.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60720" y="3566160"/>
            <a:ext cx="2834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943600" y="361188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Curaduría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Imputar nulos, quitar duplicados y corregir tipos.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· 65–75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y buenas prácticas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536192"/>
            <a:ext cx="548640" cy="54864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73352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5361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comunes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40280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Datitis: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acumular datos que nadie mira.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el factor humano: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explicar a los operarios cómo les ayuda.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Saltar etapas: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compleja sin datos limpios.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Silos y ciberseguridad: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que no se hablan o quedan expuestos.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371600"/>
            <a:ext cx="3931920" cy="324612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536192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7335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77840" y="15361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Mejores prácticas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2240280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Empezar por el problema: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“¿qué datos tenemos?” sino “¿qué queremos resolver?”.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sobre cantidad: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datos precisos valen más que un millón ruidosos.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Iterar: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digitaliza, analiza, transforma y repite.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desde el diseño: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· 65–75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nos llevamos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931920" cy="1417320"/>
          </a:xfrm>
          <a:prstGeom prst="rect">
            <a:avLst/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55448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 4.0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interconexión y datos, no solo robots.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3931920" cy="1417320"/>
          </a:xfrm>
          <a:prstGeom prst="rect">
            <a:avLst/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87452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155448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Digitalizar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el soporte. Transformar cambia la lógica del negocio.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3931920" cy="1417320"/>
          </a:xfrm>
          <a:prstGeom prst="rect">
            <a:avLst/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47472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15468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viaja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un pipeline: captura, almacenamiento, procesamiento, modelado y acción.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3931920" cy="1417320"/>
          </a:xfrm>
          <a:prstGeom prst="rect">
            <a:avLst/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347472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315468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limpieza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80% del trabajo: calidad antes que cantidad.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5E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· 65–75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la próxima clase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846320" cy="3200400"/>
          </a:xfrm>
          <a:prstGeom prst="rect">
            <a:avLst/>
          </a:prstGeom>
          <a:solidFill>
            <a:srgbClr val="126F75"/>
          </a:solidFill>
          <a:ln w="12700">
            <a:solidFill>
              <a:srgbClr val="126F7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4879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6002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practicar (no entregable)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transformación digital · 1 a 2 páginas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77440"/>
            <a:ext cx="4434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una empresa industrial.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su IIoT, su integración horizontal y un uso de gemelo digital.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un silo de información y propone una solución.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la terminología de la clase: integración vertical, servitización, analítica avanzada.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577840" y="1417320"/>
            <a:ext cx="3017520" cy="32004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806440" y="1645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TEMA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806440" y="20116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Ética, privacidad y uso responsable de los datos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806440" y="35204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Después: Python y Pandas para procesar datos reales.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Data Science I - Industria 4.0 y ciclo de vida del dato</dc:title>
  <dc:subject>PptxGenJS Presentation</dc:subject>
  <dc:creator>PptxGenJS</dc:creator>
  <cp:lastModifiedBy>PptxGenJS</cp:lastModifiedBy>
  <cp:revision>1</cp:revision>
  <dcterms:created xsi:type="dcterms:W3CDTF">2026-09-21T22:55:39Z</dcterms:created>
  <dcterms:modified xsi:type="dcterms:W3CDTF">2026-09-21T22:55:39Z</dcterms:modified>
</cp:coreProperties>
</file>