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Limpieza y manipulación de datos con Pandas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Clase introductoria · 35 minutos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66560" y="822960"/>
            <a:ext cx="2194560" cy="2194560"/>
          </a:xfrm>
          <a:prstGeom prst="ellipse">
            <a:avLst/>
          </a:prstGeom>
          <a:solidFill>
            <a:schemeClr val="accent2">
              <a:alpha val="24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103120"/>
            <a:ext cx="1463040" cy="146304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3108960"/>
            <a:ext cx="1737360" cy="1737360"/>
          </a:xfrm>
          <a:prstGeom prst="ellipse">
            <a:avLst/>
          </a:prstGeom>
          <a:solidFill>
            <a:schemeClr val="accent2">
              <a:alpha val="60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Ruta de la clase: 35 minutos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280160" cy="228600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37260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72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Fundamentos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 min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74520" y="1280160"/>
            <a:ext cx="1280160" cy="228600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2308860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088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1965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Valores faltantes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10 min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1280160" cy="228600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80460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804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965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Duplicados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 min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17720" y="1280160"/>
            <a:ext cx="1280160" cy="228600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5052060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520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1965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Transformar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 min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989320" y="1280160"/>
            <a:ext cx="1280160" cy="228600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6423660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236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1965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Resumir y unir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 min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60920" y="1280160"/>
            <a:ext cx="1280160" cy="228600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7795260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952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1965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Cierre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 min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02920" y="3840480"/>
            <a:ext cx="81381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Siempre el mismo camino: explorar → limpiar → transformar → resumir → unir.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¿Qué es un dato? ¿Qué es un dataset?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Dato: un valor registrado sobre algo (número, texto o fecha). Dataset: conjunto de datos organizado en una tabla.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Observación (fila)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97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caso individual: una venta, una persona, una medición.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Variable (columna)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697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característica que se mide en cada caso.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Numérica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puede sumar y promediar: cantidades, precios, edades.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Categórica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Etiquetas o grupos: ciudad, color, estado civil.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Python, librerías y Pandas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Python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Lenguaje de programación: instrucciones que la computadora ejecuta.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Librería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Paquete de herramientas ya programadas que podemos reutilizar.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Pandas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91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Librería de Python para trabajar con tablas: cargar, limpiar, transformar y resumir datos.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Función o método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6118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Una orden con nombre que realiza una tarea. Se escribe con paréntesis: nombre().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060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Argumento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6118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Opción que ajusta cómo trabaja la orden. Va dentro del paréntesis.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Las dos estructuras: DataFrame y Series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24712"/>
                <a:gridCol w="1124712"/>
                <a:gridCol w="1133856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Índice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Columna 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Columna 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Columna 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474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Cada fila es una observación. Cada columna es una variable. El índice identifica cada fila.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37760" y="1188720"/>
            <a:ext cx="37490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749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DataFrame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74920" y="1691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Tabla de dos dimensiones. Eje 0: filas. Eje 1: columnas.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2514600"/>
            <a:ext cx="3749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7492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Series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sola columna, con índice.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37760" y="3657600"/>
            <a:ext cx="37490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7492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Índice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Etiqueta de cada fila: es su “dirección”.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Mirar los datos antes de tocarlos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head() / tail()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Muestran las primeras o últimas filas.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9202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info()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6916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Columnas, cantidad de datos no nulos y tipo de cada una.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9202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shape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916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Cantidad de filas y de columnas.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9202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describe()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916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Resumen estadístico de las columnas numéricas.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246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Tipo de dato (dtype): entero (int), decimal (float), texto (object) o fecha (datetime). Si un número se lee como texto, no se puede sumar: por eso se revisa con info().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Valores faltantes: cómo se representan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Valor faltante: celda donde el dato no fue registrado. Pandas lo representa de varias formas.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202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 Number. Marca estándar de faltante en columnas numéricas.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828800"/>
            <a:ext cx="19202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9748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3317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Vacío nativo de Python. Pandas suele convertirlo a NaN al cargar.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19202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Null / NA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3317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Término de bases de datos (SQL). En Pandas: nulo = faltante.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828800"/>
            <a:ext cx="19202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Texto vacío “”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3317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 un texto válido sin letras. Pandas NO lo cuenta como faltante.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Trampa: NaN == NaN da False. Por eso se detecta con isna(), nunca con ==.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¿Por qué falta un dato?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Captura incompleta: falló un sensor o alguien no quiso responder.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 de integración: al unir tablas no hay coincidencia (puede ser información útil).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Dato no aplicable: la pregunta no corresponde al caso.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Cambio de diseño: antes no se pedía ese dato.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1188720"/>
            <a:ext cx="365760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663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Principio de oro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16916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Nunca limpies sin entender el contexto.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743200"/>
            <a:ext cx="36576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6636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¿Falta al azar?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24612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la ausencia depende de otra variable o del propio dato, borrar o rellenar puede sesgar (distorsionar) el resultado.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Detectar y medir qué tan grave 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info()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Visión general: datos no nulos por columna.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isna().sum()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Cuenta nulos por columna (True vale 1, False vale 0).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 Porcentaje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91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Nulos ÷ total de filas × 100. Nunca ÷ columnas.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&lt; 5%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Eliminar o imputar simple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6032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5–30%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Imputar con criterio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30–50%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Analizar caso por caso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&gt; 50%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Evaluar descartar la columna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Regla orientativa, no universal.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Eliminar o imputar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Eliminar (dropna)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Válido si sobran datos y falta poco.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Válido si falta lo que queremos predecir.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Riesgo: perder información.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Imputar (rellenar)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91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Sustituir el hueco por un valor estimado.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Riesgo: reduce la variación real de los datos.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Media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Promedio. Para números sin valores extremos.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297180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974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Mediana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Valor central. Resiste outliers (valores extremos).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06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Moda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El más frecuente. Para categorías.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297180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Constante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 valor fijo, como “Desconocido”.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Duplicados: ¿se borran siempre?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Duplicado: registro repetido. Puede distorsionar totales y promedios.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Cómo se trabajan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duplicated(): marca las filas repetidas.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drop_duplicates(): las elimina.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subset= y keep=: qué columnas comparar y cuál conservar.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0574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Clave única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560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Columna que identifica cada registro (ID, marca de tiempo o timestamp). Decide con ella.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Error del sistema → BORRAR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251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74904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Evento real → CONSERVAR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4251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Transformar columnas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Estandarizar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Unificar criterios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1188720"/>
            <a:ext cx="256032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2900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Enriquecer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Crear columnas nuevas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256032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Categorizar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Pasar números a etiquetas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5603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69748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Actúa sobre una columna. Sustituye valores uno a uno con un diccionario (pares clave → valor). Sin correspondencia da NaN.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5603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apply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69748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 una función propia a cada valor o fila (axis=1). Muy flexible, pero más lento.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5603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Vectorización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9748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Operar la columna entera de una vez. Es mucho más rápida: úsala si puedes.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Agrupar y resumir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8229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Split: dividir en grupos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46120" y="1188720"/>
            <a:ext cx="2743200" cy="8229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Apply: calcular por grupo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2743200" cy="8229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Combine: unir resultados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Agregaciones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69748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sum: total · mean: promedio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count: cuántos registros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median, min y max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 cuenta filas; sum suma valores.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Tabla dinámica (pivot_table)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69748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Cruza dos categorías en una matriz.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index: filas · columns: columnas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values: número a resumir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aggfunc: operación a aplicar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Unir tablas y trabajar con fechas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Unir tablas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merge: une por una columna común (llave). Agrega columnas.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concat: apila tablas. Agrega filas.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inner: solo coincidencias.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left: conserva toda la tabla izquierda.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Fechas y tiempo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to_datetime: convierte texto a fecha.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Índice temporal: permite filtrar por períodos.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resample: cambia la escala (diario → mensual).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Ordenar antes con sort_index().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flujo de limpieza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508760" cy="2103120"/>
          </a:xfrm>
          <a:prstGeom prst="roundRect">
            <a:avLst>
              <a:gd name="adj" fmla="val 6061"/>
            </a:avLst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600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Explora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info() e isna().sum()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508760" cy="2103120"/>
          </a:xfrm>
          <a:prstGeom prst="roundRect">
            <a:avLst>
              <a:gd name="adj" fmla="val 6061"/>
            </a:avLst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1600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517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Contextualiza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¿Por qué falta?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463040"/>
            <a:ext cx="1508760" cy="2103120"/>
          </a:xfrm>
          <a:prstGeom prst="roundRect">
            <a:avLst>
              <a:gd name="adj" fmla="val 6061"/>
            </a:avLst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600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976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22192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Mide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Siempre en porcentajes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94960" y="1463040"/>
            <a:ext cx="1508760" cy="2103120"/>
          </a:xfrm>
          <a:prstGeom prst="roundRect">
            <a:avLst>
              <a:gd name="adj" fmla="val 6061"/>
            </a:avLst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1600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68112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Decide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Eliminar, imputar o descartar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40880" y="1463040"/>
            <a:ext cx="1508760" cy="2103120"/>
          </a:xfrm>
          <a:prstGeom prst="roundRect">
            <a:avLst>
              <a:gd name="adj" fmla="val 6061"/>
            </a:avLst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1600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895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Deduplica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 claves únicas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Documenta siempre por qué tomaste cada decisión.</a:t>
            </a:r>
            <a:endParaRPr lang="en-US" sz="2000" dirty="0"/>
          </a:p>
        </p:txBody>
      </p:sp>
      <p:sp>
        <p:nvSpPr>
          <p:cNvPr id="29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das Clase">
  <a:themeElements>
    <a:clrScheme name="Pandas Clase">
      <a:dk1>
        <a:srgbClr val="1F2937"/>
      </a:dk1>
      <a:lt1>
        <a:srgbClr val="FFFFFF"/>
      </a:lt1>
      <a:dk2>
        <a:srgbClr val="134E4A"/>
      </a:dk2>
      <a:lt2>
        <a:srgbClr val="E8F3F1"/>
      </a:lt2>
      <a:accent1>
        <a:srgbClr val="0F766E"/>
      </a:accent1>
      <a:accent2>
        <a:srgbClr val="F59E0B"/>
      </a:accent2>
      <a:accent3>
        <a:srgbClr val="6B7280"/>
      </a:accent3>
      <a:accent4>
        <a:srgbClr val="B45309"/>
      </a:accent4>
      <a:accent5>
        <a:srgbClr val="0E7490"/>
      </a:accent5>
      <a:accent6>
        <a:srgbClr val="7C3AED"/>
      </a:accent6>
      <a:hlink>
        <a:srgbClr val="0F766E"/>
      </a:hlink>
      <a:folHlink>
        <a:srgbClr val="6B7280"/>
      </a:folHlink>
    </a:clrScheme>
    <a:fontScheme name="Pandas Cla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Limpieza y manipulación de datos con Pandas</dc:title>
  <dc:subject>PptxGenJS Presentation</dc:subject>
  <dc:creator>PptxGenJS</dc:creator>
  <cp:lastModifiedBy>PptxGenJS</cp:lastModifiedBy>
  <cp:revision>1</cp:revision>
  <dcterms:created xsi:type="dcterms:W3CDTF">2026-10-19T15:44:37Z</dcterms:created>
  <dcterms:modified xsi:type="dcterms:W3CDTF">2026-10-19T15:44:37Z</dcterms:modified>
</cp:coreProperties>
</file>